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5" r:id="rId2"/>
    <p:sldId id="274" r:id="rId3"/>
    <p:sldId id="277" r:id="rId4"/>
    <p:sldId id="276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8" r:id="rId13"/>
    <p:sldId id="286" r:id="rId14"/>
    <p:sldId id="287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96B"/>
    <a:srgbClr val="102A43"/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D6227-CC09-43D6-96A5-D45A9C121CBA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GB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4BE21-C5F7-4164-ADDB-F99A815F82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91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75A2-6D9B-1C5D-974E-B022DABBD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322DBE9B-4DFC-BA12-DDE3-22B0A5CE8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ACE6A17E-EF08-D4DB-50A7-C284B9770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11FDC4A7-2A3F-0C8D-E5F0-2592F7A8B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960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74D8A-20B6-B26C-124C-7F2EACB6B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CAA727F8-74E2-5CD7-328E-7741CF88C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22AD40A9-53C2-396E-ACD0-24A3A2164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2F9D8E68-4115-EEA9-1670-61574835D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201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F43E5-FBA6-4AE5-1DF0-CC5B19807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8C79EDAC-7896-8B34-2B4B-842A2414B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2965C384-55F7-3923-6047-7882A74A7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DE2857B8-F4E6-FF46-12DB-875E74406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961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DEF7D-FD4F-9CC5-B41E-A3885F9C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FFD55714-03F7-3776-90E3-25F8E87E5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B45D71EB-521A-2D76-B592-7E441E32F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9F27A57D-EF75-733D-03E4-F75AF5CAF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4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FB930-D075-CB1F-A84A-FD5BE7FA0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BD886CA5-EBF1-FA30-1623-14D138798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4A727B35-D1A9-43AC-41F9-225E18C35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686D1009-3E06-7E6D-FEDB-B252708D2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690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8C5A9-E8CE-EDCF-E5DA-AA90B47C8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DEE0DDFC-79A0-8182-DA8F-14575D4FE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14E8716E-0720-82B4-82E1-AF15F1A66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98FCB622-787B-A6BE-75E8-56535ADE1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319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4BE9D-3B9C-843A-28D8-91FD1509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1B96A0AE-AF6A-A351-0DB9-ADD91A421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9F6CF3DB-8548-EE96-CD6B-60A4C4FB1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08479EEE-72BA-1CB0-2CEE-21A050D4E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512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14CED-C5C1-F09E-7B77-34792318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6D3BD76A-63D9-9E0E-41ED-15262ED60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CC3BB9A8-57FF-11DB-492B-B7D31B845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F2007234-7EDD-1814-8D65-A841C3B19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070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9ECD9-4B79-046A-CAD6-335CA03D3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A9CD152C-80D5-2D45-B36F-16F87E96E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9B51C001-9BF3-9A7E-415F-C6E6BA44A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2B02B830-F24E-92E1-09E3-92D28DF57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076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98B68-7B5C-4F5E-457A-7767DCF5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0160CA0E-18CC-A3CB-7917-A48249CBA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8D2C969D-223C-4424-7E0B-18633D816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42BBA856-BCBA-C81D-7BAE-A3C921E4E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66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FF762-C43D-4A38-9E6D-088D38C2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7184646E-D8A2-989F-13A1-A089FD6EB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E88DF0BD-8D92-2420-DD1B-1DC6C2B82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EF495E13-4694-22DF-78CA-273AFB033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716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7BAA1-E834-996C-5224-CA749A45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EFEF1719-DEBF-4F58-1A67-5550E71F7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3105C692-AD95-22D8-9788-C4CE01296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DCE3378D-C22E-4689-6863-6612B68C2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96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3D737-D1CF-195F-23AF-974A000D7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3AB67868-7EF0-20AF-5D5D-B2EB111C7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28E2C196-50C4-748D-F6D6-364950724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30B17626-F2A5-5BD3-13CC-6F9E1971D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965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486F7-56AA-22B5-D4CB-49E598418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3F82976C-BF4D-2858-457D-BFE89AEBB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E7A672A7-2DDC-4566-4DB6-8B6158F1D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9FC26D58-92C8-1AD8-1E56-99F6FD700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1123A-6B2B-4FD0-844C-9250AE5169D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01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8C2B2DB-A275-8610-5537-2ABF19AA0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Kliknite da biste uredili stil naslova matrice</a:t>
            </a:r>
            <a:endParaRPr lang="en-GB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B8C2E389-357D-2B41-FD70-7BCECBE6E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  <a:endParaRPr lang="en-GB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DC999F92-56AB-DA60-75E6-7B969C1F0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DEB7-5E4A-4706-9795-4B0FE8340C42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4924208F-F146-8DB9-BD1B-286D4EE4D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D63BF1D7-2CBD-DA71-5812-7118234B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1B3A-3C18-4511-8362-7C4DFF1081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0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03A088A-D127-7816-01F3-5B72D2DA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GB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D98165C-F900-F5FD-DF8A-B21317C31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GB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5C851A5B-5987-B108-1FBF-32538D6B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DEB7-5E4A-4706-9795-4B0FE8340C42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DFC1338C-40FC-E29E-3EE3-383CC2B4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40C8286F-318A-E4A6-6D51-65DE1B6FF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1B3A-3C18-4511-8362-7C4DFF1081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79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88C45B0-3562-FFD7-7243-8795EAAE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Kliknite da biste uredili stil naslova matrice</a:t>
            </a:r>
            <a:endParaRPr lang="en-GB"/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F85A97E7-EEE1-7E4A-9A6F-1B29F201F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2B89F44C-F958-7D8C-1D98-3FB022D63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DEB7-5E4A-4706-9795-4B0FE8340C42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57B56B-B4F7-FF82-3E43-C782AD1D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624F1FC8-F793-CE9B-26AD-A3C4EA7C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1B3A-3C18-4511-8362-7C4DFF1081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11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18C4853-2000-94B2-8804-FCB3A4C11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GB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59A4D80-6F26-7FFB-0F7C-57E5932E9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GB"/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4D79B44-4860-522A-0603-F58028F6F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GB"/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2E5DE99D-AA5E-F31D-21F7-CEA55940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DEB7-5E4A-4706-9795-4B0FE8340C42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C54E16DE-24AF-F20C-EDAE-B7E9F2B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645AAEED-D6DB-1ABD-B631-7E2E7204D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1B3A-3C18-4511-8362-7C4DFF1081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006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25C2D24-8800-5194-94AC-E21808B1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GB"/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69D26B80-A18E-6648-CF96-155848FD2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2DEF2D7A-68D0-D81E-87DB-411DD788E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GB"/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0602D324-7D20-8DAE-D647-F0F8D6FC2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91BD6AAB-791E-8FC8-70D6-1561CAA54C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GB"/>
          </a:p>
        </p:txBody>
      </p:sp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7B9529AC-FD52-3E33-B55A-6FBC7D40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DEB7-5E4A-4706-9795-4B0FE8340C42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8" name="Rezervirano mjesto podnožja 7">
            <a:extLst>
              <a:ext uri="{FF2B5EF4-FFF2-40B4-BE49-F238E27FC236}">
                <a16:creationId xmlns:a16="http://schemas.microsoft.com/office/drawing/2014/main" id="{F69B9819-AAB7-9060-8751-9DE4AAE75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zervirano mjesto broja slajda 8">
            <a:extLst>
              <a:ext uri="{FF2B5EF4-FFF2-40B4-BE49-F238E27FC236}">
                <a16:creationId xmlns:a16="http://schemas.microsoft.com/office/drawing/2014/main" id="{73E6BB38-1D40-F656-7750-E4D3A8223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1B3A-3C18-4511-8362-7C4DFF1081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711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3A08940-4BC6-9A6C-F7AB-BBC4C2DA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GB"/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387A9759-AF9A-10D3-2CA8-323F0D696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DEB7-5E4A-4706-9795-4B0FE8340C42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E327E106-AE22-F309-A5DE-4E07FAC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F0635CAB-1036-21EC-8ACC-A191B1F1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1B3A-3C18-4511-8362-7C4DFF1081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725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9A8F9446-75C2-6001-E305-9ECD20C4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DEB7-5E4A-4706-9795-4B0FE8340C42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3" name="Rezervirano mjesto podnožja 2">
            <a:extLst>
              <a:ext uri="{FF2B5EF4-FFF2-40B4-BE49-F238E27FC236}">
                <a16:creationId xmlns:a16="http://schemas.microsoft.com/office/drawing/2014/main" id="{FEEF2632-2557-A67D-8B08-01BAA7FA6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5C2CFA8D-6651-9CDC-CF11-92FBDC0C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1B3A-3C18-4511-8362-7C4DFF1081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695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D8B832E-AED9-0028-9484-467649FD0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GB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10493C4-B6E5-E51C-F8C7-3AFBD183D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GB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DAEAA2E9-AF0E-FAD3-AB08-951F209C9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D4E43BF0-9EED-4419-E2F9-66BF81AE9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DEB7-5E4A-4706-9795-4B0FE8340C42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1D51BF7B-8DE5-1230-FCAF-05EA9BC4C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FDEC4223-44A6-6A31-BB7B-4A8BDB14C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1B3A-3C18-4511-8362-7C4DFF1081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777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39337E2-82A1-CE5D-1B16-FEDDD54D0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GB"/>
          </a:p>
        </p:txBody>
      </p:sp>
      <p:sp>
        <p:nvSpPr>
          <p:cNvPr id="3" name="Rezervirano mjesto slike 2">
            <a:extLst>
              <a:ext uri="{FF2B5EF4-FFF2-40B4-BE49-F238E27FC236}">
                <a16:creationId xmlns:a16="http://schemas.microsoft.com/office/drawing/2014/main" id="{83069283-338D-D736-D63C-ABDD6131F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06D7DA35-D3D6-5D5C-189C-58905E5C9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2BD0D6BC-2FB2-E4E4-8555-35BA19D2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DEB7-5E4A-4706-9795-4B0FE8340C42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5B591E6A-2AB4-090F-7C89-FD724B4DC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DF7A4147-3340-AD21-D4D8-B62B3A40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1B3A-3C18-4511-8362-7C4DFF1081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57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41B1D82-A0DB-EB9E-EF91-CA8AC90B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GB"/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6AEC3C7F-7732-8304-CBAF-D42D534FE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GB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ADF02441-C48E-BBB5-64F4-FB8B8F92B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DEB7-5E4A-4706-9795-4B0FE8340C42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D2B0D036-4B7D-3FC3-9007-EBB18B866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EFF42E64-7DAE-D425-AA2C-141568D7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1B3A-3C18-4511-8362-7C4DFF1081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438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>
            <a:extLst>
              <a:ext uri="{FF2B5EF4-FFF2-40B4-BE49-F238E27FC236}">
                <a16:creationId xmlns:a16="http://schemas.microsoft.com/office/drawing/2014/main" id="{74D69728-4F89-D545-B654-67C962310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  <a:endParaRPr lang="en-GB"/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BBC3FB85-1057-6EEC-751B-05DB26E41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GB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A7B9F69B-C4A8-208F-3B7E-22B970718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DEB7-5E4A-4706-9795-4B0FE8340C42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7D0C531F-5957-B5CE-CA4C-2CB12E30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64EC3671-1B82-8858-F462-49F9754B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1B3A-3C18-4511-8362-7C4DFF1081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18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B07828BB-446E-401B-DAB7-BEC8C5184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  <a:endParaRPr lang="en-GB"/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CF85003D-7DBC-52EE-932D-D007375C1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GB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24EDC708-2F39-BB45-2B4F-5DD3688BBC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DDEB7-5E4A-4706-9795-4B0FE8340C42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B2A55954-DECA-1F64-810E-48AC98DA8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495A1C7C-5202-4870-D02B-0F001E698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DA1B3A-3C18-4511-8362-7C4DFF1081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28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93370-DD5A-AEF7-B1B8-FAF5D8478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Slika 20" descr="Slika na kojoj se prikazuje skeč, zgrada, crtež, arhitektura&#10;&#10;Sadržaj generiran uz AI možda nije točan.">
            <a:extLst>
              <a:ext uri="{FF2B5EF4-FFF2-40B4-BE49-F238E27FC236}">
                <a16:creationId xmlns:a16="http://schemas.microsoft.com/office/drawing/2014/main" id="{53A5800D-6F96-048E-02A8-A4E6A7346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61482" y="535764"/>
            <a:ext cx="6617998" cy="5109837"/>
          </a:xfrm>
          <a:prstGeom prst="rect">
            <a:avLst/>
          </a:prstGeom>
        </p:spPr>
      </p:pic>
      <p:pic>
        <p:nvPicPr>
          <p:cNvPr id="25" name="Slika 24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6CB686BB-F810-4E68-8742-D2F1C8D30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962" y="3023110"/>
            <a:ext cx="3271325" cy="746747"/>
          </a:xfrm>
          <a:prstGeom prst="rect">
            <a:avLst/>
          </a:prstGeom>
        </p:spPr>
      </p:pic>
      <p:sp>
        <p:nvSpPr>
          <p:cNvPr id="15" name="TekstniOkvir 14">
            <a:extLst>
              <a:ext uri="{FF2B5EF4-FFF2-40B4-BE49-F238E27FC236}">
                <a16:creationId xmlns:a16="http://schemas.microsoft.com/office/drawing/2014/main" id="{8EDC56A3-3586-3AC1-9FDC-088CA287F804}"/>
              </a:ext>
            </a:extLst>
          </p:cNvPr>
          <p:cNvSpPr txBox="1"/>
          <p:nvPr/>
        </p:nvSpPr>
        <p:spPr>
          <a:xfrm>
            <a:off x="432775" y="3719057"/>
            <a:ext cx="4503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Prezentacija</a:t>
            </a:r>
            <a:r>
              <a:rPr lang="en-GB" dirty="0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 </a:t>
            </a:r>
            <a:r>
              <a:rPr lang="en-GB" dirty="0" err="1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projekta</a:t>
            </a:r>
            <a:endParaRPr lang="en-GB" dirty="0">
              <a:solidFill>
                <a:srgbClr val="102A43"/>
              </a:solidFill>
              <a:latin typeface="Rajdhani Medium" panose="02000000000000000000" pitchFamily="2" charset="0"/>
              <a:cs typeface="Rajdhani Medium" panose="02000000000000000000" pitchFamily="2" charset="0"/>
            </a:endParaRPr>
          </a:p>
          <a:p>
            <a:pPr algn="ctr"/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TG 09.3 </a:t>
            </a:r>
            <a:r>
              <a:rPr lang="en-GB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endParaRPr lang="en-GB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pic>
        <p:nvPicPr>
          <p:cNvPr id="16" name="UNI_Logo">
            <a:extLst>
              <a:ext uri="{FF2B5EF4-FFF2-40B4-BE49-F238E27FC236}">
                <a16:creationId xmlns:a16="http://schemas.microsoft.com/office/drawing/2014/main" id="{8F775446-144B-E168-0C45-CD16169D6DB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10553458" y="209753"/>
            <a:ext cx="465932" cy="461227"/>
          </a:xfrm>
          <a:prstGeom prst="rect">
            <a:avLst/>
          </a:prstGeom>
        </p:spPr>
      </p:pic>
      <p:pic>
        <p:nvPicPr>
          <p:cNvPr id="17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954C09B-A928-32E3-2D18-98C80B7C92D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79000"/>
          </a:blip>
          <a:srcRect l="13474" t="23715" r="15700" b="21450"/>
          <a:stretch/>
        </p:blipFill>
        <p:spPr>
          <a:xfrm>
            <a:off x="11093471" y="265627"/>
            <a:ext cx="761025" cy="373082"/>
          </a:xfrm>
          <a:prstGeom prst="rect">
            <a:avLst/>
          </a:prstGeom>
        </p:spPr>
      </p:pic>
      <p:sp>
        <p:nvSpPr>
          <p:cNvPr id="20" name="TekstniOkvir 19">
            <a:extLst>
              <a:ext uri="{FF2B5EF4-FFF2-40B4-BE49-F238E27FC236}">
                <a16:creationId xmlns:a16="http://schemas.microsoft.com/office/drawing/2014/main" id="{3DB81458-5A32-1105-AD97-03C373FE5679}"/>
              </a:ext>
            </a:extLst>
          </p:cNvPr>
          <p:cNvSpPr txBox="1"/>
          <p:nvPr/>
        </p:nvSpPr>
        <p:spPr>
          <a:xfrm>
            <a:off x="5758496" y="62098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400" dirty="0" err="1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Programsko</a:t>
            </a:r>
            <a:r>
              <a:rPr lang="en-GB" sz="1400" dirty="0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 </a:t>
            </a:r>
            <a:r>
              <a:rPr lang="en-GB" sz="1400" dirty="0" err="1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inženjerstvo</a:t>
            </a:r>
            <a:endParaRPr lang="en-GB" sz="1400" dirty="0">
              <a:solidFill>
                <a:srgbClr val="102A43"/>
              </a:solidFill>
              <a:latin typeface="Rajdhani Medium" panose="02000000000000000000" pitchFamily="2" charset="0"/>
              <a:cs typeface="Rajdhani Medium" panose="02000000000000000000" pitchFamily="2" charset="0"/>
            </a:endParaRPr>
          </a:p>
          <a:p>
            <a:pPr algn="r"/>
            <a:r>
              <a:rPr lang="en-GB" sz="14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ID 183400 Ak. God. 2025./2026.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6B92376D-5365-F29A-CB1C-2D4A3EFCECBD}"/>
              </a:ext>
            </a:extLst>
          </p:cNvPr>
          <p:cNvSpPr txBox="1"/>
          <p:nvPr/>
        </p:nvSpPr>
        <p:spPr>
          <a:xfrm>
            <a:off x="432775" y="209753"/>
            <a:ext cx="85002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>
                <a:highlight>
                  <a:srgbClr val="FFFF00"/>
                </a:highlight>
              </a:rPr>
              <a:t>Radije</a:t>
            </a:r>
            <a:r>
              <a:rPr lang="en-GB" sz="2800" dirty="0">
                <a:highlight>
                  <a:srgbClr val="FFFF00"/>
                </a:highlight>
              </a:rPr>
              <a:t> </a:t>
            </a:r>
            <a:r>
              <a:rPr lang="en-GB" sz="2800" dirty="0" err="1">
                <a:highlight>
                  <a:srgbClr val="FFFF00"/>
                </a:highlight>
              </a:rPr>
              <a:t>gledati</a:t>
            </a:r>
            <a:r>
              <a:rPr lang="en-GB" sz="2800" dirty="0">
                <a:highlight>
                  <a:srgbClr val="FFFF00"/>
                </a:highlight>
              </a:rPr>
              <a:t> PDF </a:t>
            </a:r>
            <a:r>
              <a:rPr lang="en-GB" sz="2800" dirty="0" err="1">
                <a:highlight>
                  <a:srgbClr val="FFFF00"/>
                </a:highlight>
              </a:rPr>
              <a:t>verziju</a:t>
            </a:r>
            <a:r>
              <a:rPr lang="en-GB" sz="2800" dirty="0">
                <a:highlight>
                  <a:srgbClr val="FFFF00"/>
                </a:highlight>
              </a:rPr>
              <a:t> </a:t>
            </a:r>
            <a:r>
              <a:rPr lang="en-GB" sz="2800" dirty="0" err="1">
                <a:highlight>
                  <a:srgbClr val="FFFF00"/>
                </a:highlight>
              </a:rPr>
              <a:t>budući</a:t>
            </a:r>
            <a:r>
              <a:rPr lang="en-GB" sz="2800" dirty="0">
                <a:highlight>
                  <a:srgbClr val="FFFF00"/>
                </a:highlight>
              </a:rPr>
              <a:t> da se PPTX ne </a:t>
            </a:r>
            <a:r>
              <a:rPr lang="en-GB" sz="2800" dirty="0" err="1">
                <a:highlight>
                  <a:srgbClr val="FFFF00"/>
                </a:highlight>
              </a:rPr>
              <a:t>prikazuje</a:t>
            </a:r>
            <a:r>
              <a:rPr lang="en-GB" sz="2800" dirty="0">
                <a:highlight>
                  <a:srgbClr val="FFFF00"/>
                </a:highlight>
              </a:rPr>
              <a:t> </a:t>
            </a:r>
            <a:r>
              <a:rPr lang="en-GB" sz="2800" dirty="0" err="1">
                <a:highlight>
                  <a:srgbClr val="FFFF00"/>
                </a:highlight>
              </a:rPr>
              <a:t>ispravno</a:t>
            </a:r>
            <a:r>
              <a:rPr lang="en-GB" sz="2800" dirty="0">
                <a:highlight>
                  <a:srgbClr val="FFFF00"/>
                </a:highlight>
              </a:rPr>
              <a:t> bez </a:t>
            </a:r>
            <a:r>
              <a:rPr lang="en-GB" sz="2800" dirty="0" err="1">
                <a:highlight>
                  <a:srgbClr val="FFFF00"/>
                </a:highlight>
              </a:rPr>
              <a:t>preuzimanja</a:t>
            </a:r>
            <a:r>
              <a:rPr lang="en-GB" sz="2800" dirty="0">
                <a:highlight>
                  <a:srgbClr val="FFFF00"/>
                </a:highlight>
              </a:rPr>
              <a:t> </a:t>
            </a:r>
            <a:r>
              <a:rPr lang="en-GB" sz="2800" dirty="0" err="1">
                <a:highlight>
                  <a:srgbClr val="FFFF00"/>
                </a:highlight>
              </a:rPr>
              <a:t>određenih</a:t>
            </a:r>
            <a:r>
              <a:rPr lang="en-GB" sz="2800" dirty="0">
                <a:highlight>
                  <a:srgbClr val="FFFF00"/>
                </a:highlight>
              </a:rPr>
              <a:t> </a:t>
            </a:r>
            <a:r>
              <a:rPr lang="en-GB" sz="2800" dirty="0" err="1">
                <a:highlight>
                  <a:srgbClr val="FFFF00"/>
                </a:highlight>
              </a:rPr>
              <a:t>fontova</a:t>
            </a:r>
            <a:endParaRPr lang="en-GB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8140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2A03F-9526-C601-E72D-1465FEFFE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>
            <a:extLst>
              <a:ext uri="{FF2B5EF4-FFF2-40B4-BE49-F238E27FC236}">
                <a16:creationId xmlns:a16="http://schemas.microsoft.com/office/drawing/2014/main" id="{6A4B6DB3-2362-602D-C0BF-400A948B06BB}"/>
              </a:ext>
            </a:extLst>
          </p:cNvPr>
          <p:cNvSpPr txBox="1"/>
          <p:nvPr/>
        </p:nvSpPr>
        <p:spPr>
          <a:xfrm>
            <a:off x="10154068" y="6193857"/>
            <a:ext cx="176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2000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TG 09.3</a:t>
            </a:r>
            <a:endParaRPr lang="hr-HR" sz="2000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BEFC11B8-A3C5-DDE1-1EAD-6BD44323B0FA}"/>
              </a:ext>
            </a:extLst>
          </p:cNvPr>
          <p:cNvSpPr txBox="1"/>
          <p:nvPr/>
        </p:nvSpPr>
        <p:spPr>
          <a:xfrm>
            <a:off x="272703" y="264033"/>
            <a:ext cx="41152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 err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Članovi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 </a:t>
            </a:r>
            <a:r>
              <a:rPr lang="en-GB" sz="6000" b="1" dirty="0" err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tima</a:t>
            </a:r>
            <a:endParaRPr lang="en-GB" sz="6000" b="1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E30A4286-B865-8A69-1283-A9C7500AF2EC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919296" y="430070"/>
            <a:ext cx="0" cy="5963842"/>
          </a:xfrm>
          <a:prstGeom prst="line">
            <a:avLst/>
          </a:prstGeom>
          <a:ln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4DF13CE7-41ED-4334-9769-DB060C94B277}"/>
              </a:ext>
            </a:extLst>
          </p:cNvPr>
          <p:cNvSpPr txBox="1"/>
          <p:nvPr/>
        </p:nvSpPr>
        <p:spPr>
          <a:xfrm>
            <a:off x="272703" y="620924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2</a:t>
            </a:r>
          </a:p>
        </p:txBody>
      </p:sp>
      <p:pic>
        <p:nvPicPr>
          <p:cNvPr id="13" name="Slika 1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913024F7-B5C0-2414-60BA-E58DC53F3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92" y="307700"/>
            <a:ext cx="1072148" cy="244739"/>
          </a:xfrm>
          <a:prstGeom prst="rect">
            <a:avLst/>
          </a:prstGeom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E30A398D-6CDF-2000-2E59-154327F5A6BF}"/>
              </a:ext>
            </a:extLst>
          </p:cNvPr>
          <p:cNvSpPr txBox="1"/>
          <p:nvPr/>
        </p:nvSpPr>
        <p:spPr>
          <a:xfrm>
            <a:off x="643127" y="1441574"/>
            <a:ext cx="7271837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4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Petar Ćurić </a:t>
            </a:r>
            <a:r>
              <a:rPr lang="en-GB" sz="24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– Dizajn Web Aplikacije</a:t>
            </a:r>
          </a:p>
          <a:p>
            <a:pPr marL="342900" indent="-342900" algn="l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4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Andro Gabaj </a:t>
            </a:r>
            <a:r>
              <a:rPr lang="en-GB" sz="24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– Dokumentacija, Software Tester</a:t>
            </a:r>
          </a:p>
          <a:p>
            <a:pPr marL="342900" indent="-342900" algn="l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4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Matej Glavaš </a:t>
            </a:r>
            <a:r>
              <a:rPr lang="en-GB" sz="24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– Full Stack Developer, Dokumentacija</a:t>
            </a:r>
          </a:p>
          <a:p>
            <a:pPr marL="342900" indent="-342900" algn="l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4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Ante Ivančić </a:t>
            </a:r>
            <a:r>
              <a:rPr lang="en-GB" sz="24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– Dokumentacija, Prezentacija</a:t>
            </a:r>
          </a:p>
          <a:p>
            <a:pPr marL="342900" indent="-342900" algn="l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4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Filip Matijević </a:t>
            </a:r>
            <a:r>
              <a:rPr lang="en-GB" sz="24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– Full Stack Developer, Dokumentacija</a:t>
            </a:r>
          </a:p>
          <a:p>
            <a:pPr marL="342900" indent="-342900" algn="l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4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Jakov Schramadei</a:t>
            </a:r>
          </a:p>
        </p:txBody>
      </p:sp>
    </p:spTree>
    <p:extLst>
      <p:ext uri="{BB962C8B-B14F-4D97-AF65-F5344CB8AC3E}">
        <p14:creationId xmlns:p14="http://schemas.microsoft.com/office/powerpoint/2010/main" val="3051480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58B07-5FF4-221C-8051-FEF044B27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>
            <a:extLst>
              <a:ext uri="{FF2B5EF4-FFF2-40B4-BE49-F238E27FC236}">
                <a16:creationId xmlns:a16="http://schemas.microsoft.com/office/drawing/2014/main" id="{A82732A2-1A83-9308-A868-E6B59D4C411B}"/>
              </a:ext>
            </a:extLst>
          </p:cNvPr>
          <p:cNvSpPr txBox="1"/>
          <p:nvPr/>
        </p:nvSpPr>
        <p:spPr>
          <a:xfrm>
            <a:off x="10154068" y="6193857"/>
            <a:ext cx="176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2000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TG 09.3</a:t>
            </a:r>
            <a:endParaRPr lang="hr-HR" sz="2000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3B42EB09-409B-A948-5EAC-31020005E30E}"/>
              </a:ext>
            </a:extLst>
          </p:cNvPr>
          <p:cNvSpPr txBox="1"/>
          <p:nvPr/>
        </p:nvSpPr>
        <p:spPr>
          <a:xfrm>
            <a:off x="272703" y="264033"/>
            <a:ext cx="25731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Agenda</a:t>
            </a:r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2EABF05B-4109-5176-0F50-F87446B4D706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919296" y="430070"/>
            <a:ext cx="0" cy="5963842"/>
          </a:xfrm>
          <a:prstGeom prst="line">
            <a:avLst/>
          </a:prstGeom>
          <a:ln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044A377D-EC7A-B174-EC70-8DCE7F6DED99}"/>
              </a:ext>
            </a:extLst>
          </p:cNvPr>
          <p:cNvSpPr txBox="1"/>
          <p:nvPr/>
        </p:nvSpPr>
        <p:spPr>
          <a:xfrm>
            <a:off x="272703" y="6209246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3</a:t>
            </a:r>
          </a:p>
        </p:txBody>
      </p:sp>
      <p:pic>
        <p:nvPicPr>
          <p:cNvPr id="13" name="Slika 1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254164CC-C3AA-779E-1074-A42168E6A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92" y="307700"/>
            <a:ext cx="1072148" cy="244739"/>
          </a:xfrm>
          <a:prstGeom prst="rect">
            <a:avLst/>
          </a:prstGeom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35722D7A-9F45-1221-B70A-94700B471403}"/>
              </a:ext>
            </a:extLst>
          </p:cNvPr>
          <p:cNvSpPr txBox="1"/>
          <p:nvPr/>
        </p:nvSpPr>
        <p:spPr>
          <a:xfrm>
            <a:off x="2229965" y="1876200"/>
            <a:ext cx="15424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Problem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49428F07-3E38-7109-5679-81FA22EA05A2}"/>
              </a:ext>
            </a:extLst>
          </p:cNvPr>
          <p:cNvSpPr txBox="1"/>
          <p:nvPr/>
        </p:nvSpPr>
        <p:spPr>
          <a:xfrm>
            <a:off x="1388068" y="1660757"/>
            <a:ext cx="8418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01</a:t>
            </a:r>
            <a:endParaRPr lang="en-GB" sz="6000" b="1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22" name="TekstniOkvir 21">
            <a:extLst>
              <a:ext uri="{FF2B5EF4-FFF2-40B4-BE49-F238E27FC236}">
                <a16:creationId xmlns:a16="http://schemas.microsoft.com/office/drawing/2014/main" id="{B7127A50-D440-479A-C0FD-AB9E1DF79D58}"/>
              </a:ext>
            </a:extLst>
          </p:cNvPr>
          <p:cNvSpPr txBox="1"/>
          <p:nvPr/>
        </p:nvSpPr>
        <p:spPr>
          <a:xfrm>
            <a:off x="2229965" y="2926848"/>
            <a:ext cx="1566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Rješenje</a:t>
            </a:r>
            <a:endParaRPr lang="en-GB" sz="32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23" name="TekstniOkvir 22">
            <a:extLst>
              <a:ext uri="{FF2B5EF4-FFF2-40B4-BE49-F238E27FC236}">
                <a16:creationId xmlns:a16="http://schemas.microsoft.com/office/drawing/2014/main" id="{DB15B082-8D90-1FB7-FC0E-9F385EDEA51C}"/>
              </a:ext>
            </a:extLst>
          </p:cNvPr>
          <p:cNvSpPr txBox="1"/>
          <p:nvPr/>
        </p:nvSpPr>
        <p:spPr>
          <a:xfrm>
            <a:off x="1264636" y="2711405"/>
            <a:ext cx="965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2</a:t>
            </a:r>
          </a:p>
        </p:txBody>
      </p:sp>
      <p:sp>
        <p:nvSpPr>
          <p:cNvPr id="24" name="TekstniOkvir 23">
            <a:extLst>
              <a:ext uri="{FF2B5EF4-FFF2-40B4-BE49-F238E27FC236}">
                <a16:creationId xmlns:a16="http://schemas.microsoft.com/office/drawing/2014/main" id="{17C5B982-0DE8-AE3F-606B-67A617BC2B7A}"/>
              </a:ext>
            </a:extLst>
          </p:cNvPr>
          <p:cNvSpPr txBox="1"/>
          <p:nvPr/>
        </p:nvSpPr>
        <p:spPr>
          <a:xfrm>
            <a:off x="2229965" y="3977496"/>
            <a:ext cx="2932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Pregled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zahtjeva</a:t>
            </a:r>
            <a:endParaRPr lang="en-GB" sz="32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25" name="TekstniOkvir 24">
            <a:extLst>
              <a:ext uri="{FF2B5EF4-FFF2-40B4-BE49-F238E27FC236}">
                <a16:creationId xmlns:a16="http://schemas.microsoft.com/office/drawing/2014/main" id="{DC7949C8-CF8E-3CDB-4C6D-8C1612E8E0F1}"/>
              </a:ext>
            </a:extLst>
          </p:cNvPr>
          <p:cNvSpPr txBox="1"/>
          <p:nvPr/>
        </p:nvSpPr>
        <p:spPr>
          <a:xfrm>
            <a:off x="1251812" y="3762053"/>
            <a:ext cx="9781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3</a:t>
            </a:r>
          </a:p>
        </p:txBody>
      </p:sp>
      <p:sp>
        <p:nvSpPr>
          <p:cNvPr id="26" name="TekstniOkvir 25">
            <a:extLst>
              <a:ext uri="{FF2B5EF4-FFF2-40B4-BE49-F238E27FC236}">
                <a16:creationId xmlns:a16="http://schemas.microsoft.com/office/drawing/2014/main" id="{5E112DCA-AB9A-385F-3056-9A304D10C8AC}"/>
              </a:ext>
            </a:extLst>
          </p:cNvPr>
          <p:cNvSpPr txBox="1"/>
          <p:nvPr/>
        </p:nvSpPr>
        <p:spPr>
          <a:xfrm>
            <a:off x="2229965" y="5028144"/>
            <a:ext cx="3429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Arhitektura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sustava</a:t>
            </a:r>
            <a:endParaRPr lang="en-GB" sz="32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27" name="TekstniOkvir 26">
            <a:extLst>
              <a:ext uri="{FF2B5EF4-FFF2-40B4-BE49-F238E27FC236}">
                <a16:creationId xmlns:a16="http://schemas.microsoft.com/office/drawing/2014/main" id="{5B79C677-48A7-38C5-31B8-22851C6469F5}"/>
              </a:ext>
            </a:extLst>
          </p:cNvPr>
          <p:cNvSpPr txBox="1"/>
          <p:nvPr/>
        </p:nvSpPr>
        <p:spPr>
          <a:xfrm>
            <a:off x="1229370" y="4812701"/>
            <a:ext cx="10005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4</a:t>
            </a:r>
          </a:p>
        </p:txBody>
      </p:sp>
      <p:sp>
        <p:nvSpPr>
          <p:cNvPr id="28" name="TekstniOkvir 27">
            <a:extLst>
              <a:ext uri="{FF2B5EF4-FFF2-40B4-BE49-F238E27FC236}">
                <a16:creationId xmlns:a16="http://schemas.microsoft.com/office/drawing/2014/main" id="{13B508D7-B944-F505-A09C-1DD77BB9D46E}"/>
              </a:ext>
            </a:extLst>
          </p:cNvPr>
          <p:cNvSpPr txBox="1"/>
          <p:nvPr/>
        </p:nvSpPr>
        <p:spPr>
          <a:xfrm>
            <a:off x="7595805" y="1876200"/>
            <a:ext cx="30235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Organizacija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rada</a:t>
            </a:r>
          </a:p>
        </p:txBody>
      </p:sp>
      <p:sp>
        <p:nvSpPr>
          <p:cNvPr id="29" name="TekstniOkvir 28">
            <a:extLst>
              <a:ext uri="{FF2B5EF4-FFF2-40B4-BE49-F238E27FC236}">
                <a16:creationId xmlns:a16="http://schemas.microsoft.com/office/drawing/2014/main" id="{74CD4834-533D-16AD-65D6-EC992055647D}"/>
              </a:ext>
            </a:extLst>
          </p:cNvPr>
          <p:cNvSpPr txBox="1"/>
          <p:nvPr/>
        </p:nvSpPr>
        <p:spPr>
          <a:xfrm>
            <a:off x="6622462" y="1660757"/>
            <a:ext cx="9733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5</a:t>
            </a:r>
          </a:p>
        </p:txBody>
      </p:sp>
      <p:sp>
        <p:nvSpPr>
          <p:cNvPr id="30" name="TekstniOkvir 29">
            <a:extLst>
              <a:ext uri="{FF2B5EF4-FFF2-40B4-BE49-F238E27FC236}">
                <a16:creationId xmlns:a16="http://schemas.microsoft.com/office/drawing/2014/main" id="{01EEF686-7D2B-D9DE-72FD-8FA4A8D3A9B7}"/>
              </a:ext>
            </a:extLst>
          </p:cNvPr>
          <p:cNvSpPr txBox="1"/>
          <p:nvPr/>
        </p:nvSpPr>
        <p:spPr>
          <a:xfrm>
            <a:off x="7595805" y="2926848"/>
            <a:ext cx="2539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Demonstracija</a:t>
            </a:r>
            <a:endParaRPr lang="en-GB" sz="32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31" name="TekstniOkvir 30">
            <a:extLst>
              <a:ext uri="{FF2B5EF4-FFF2-40B4-BE49-F238E27FC236}">
                <a16:creationId xmlns:a16="http://schemas.microsoft.com/office/drawing/2014/main" id="{EF22B52C-CD55-C84D-D5F5-82B8A79EAF32}"/>
              </a:ext>
            </a:extLst>
          </p:cNvPr>
          <p:cNvSpPr txBox="1"/>
          <p:nvPr/>
        </p:nvSpPr>
        <p:spPr>
          <a:xfrm>
            <a:off x="6609638" y="2711405"/>
            <a:ext cx="9861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6</a:t>
            </a:r>
          </a:p>
        </p:txBody>
      </p:sp>
      <p:sp>
        <p:nvSpPr>
          <p:cNvPr id="32" name="TekstniOkvir 31">
            <a:extLst>
              <a:ext uri="{FF2B5EF4-FFF2-40B4-BE49-F238E27FC236}">
                <a16:creationId xmlns:a16="http://schemas.microsoft.com/office/drawing/2014/main" id="{BC8D9137-0283-29D4-7121-D182654B654B}"/>
              </a:ext>
            </a:extLst>
          </p:cNvPr>
          <p:cNvSpPr txBox="1"/>
          <p:nvPr/>
        </p:nvSpPr>
        <p:spPr>
          <a:xfrm>
            <a:off x="7595805" y="3977496"/>
            <a:ext cx="27222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Naučene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lekcije</a:t>
            </a:r>
            <a:endParaRPr lang="en-GB" sz="32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33" name="TekstniOkvir 32">
            <a:extLst>
              <a:ext uri="{FF2B5EF4-FFF2-40B4-BE49-F238E27FC236}">
                <a16:creationId xmlns:a16="http://schemas.microsoft.com/office/drawing/2014/main" id="{2A47BDDD-C3FA-1198-4CEC-B4E7D98116EE}"/>
              </a:ext>
            </a:extLst>
          </p:cNvPr>
          <p:cNvSpPr txBox="1"/>
          <p:nvPr/>
        </p:nvSpPr>
        <p:spPr>
          <a:xfrm>
            <a:off x="6688184" y="3762053"/>
            <a:ext cx="9076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65988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13F19-B47E-57B3-DA6D-D63D42D21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>
            <a:extLst>
              <a:ext uri="{FF2B5EF4-FFF2-40B4-BE49-F238E27FC236}">
                <a16:creationId xmlns:a16="http://schemas.microsoft.com/office/drawing/2014/main" id="{9B50203D-5365-41B5-3791-C030DE08E6CF}"/>
              </a:ext>
            </a:extLst>
          </p:cNvPr>
          <p:cNvSpPr txBox="1"/>
          <p:nvPr/>
        </p:nvSpPr>
        <p:spPr>
          <a:xfrm>
            <a:off x="10154068" y="6193857"/>
            <a:ext cx="176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2000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TG 09.3</a:t>
            </a:r>
            <a:endParaRPr lang="hr-HR" sz="2000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DF643F27-BC9B-DFC9-D626-307E1151CBBC}"/>
              </a:ext>
            </a:extLst>
          </p:cNvPr>
          <p:cNvSpPr txBox="1"/>
          <p:nvPr/>
        </p:nvSpPr>
        <p:spPr>
          <a:xfrm>
            <a:off x="1114600" y="479476"/>
            <a:ext cx="15424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Problem</a:t>
            </a: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E77CCA7F-2CCF-90C8-62E7-977D86448991}"/>
              </a:ext>
            </a:extLst>
          </p:cNvPr>
          <p:cNvSpPr txBox="1"/>
          <p:nvPr/>
        </p:nvSpPr>
        <p:spPr>
          <a:xfrm>
            <a:off x="272703" y="264033"/>
            <a:ext cx="8418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01</a:t>
            </a:r>
            <a:endParaRPr lang="en-GB" sz="6000" b="1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3A3B3B88-3D22-5AA1-727F-C8BEE7E66444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919296" y="430070"/>
            <a:ext cx="0" cy="5963842"/>
          </a:xfrm>
          <a:prstGeom prst="line">
            <a:avLst/>
          </a:prstGeom>
          <a:ln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F16E8437-389D-3C07-ABF1-8ABAD84D9006}"/>
              </a:ext>
            </a:extLst>
          </p:cNvPr>
          <p:cNvSpPr txBox="1"/>
          <p:nvPr/>
        </p:nvSpPr>
        <p:spPr>
          <a:xfrm>
            <a:off x="1014910" y="1441574"/>
            <a:ext cx="96929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1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Novi zakon o upravljanju zgradama detaljnije propisuje postupke i obveze upravitelja zgrade, suvlasnika te predsjednika suvlasnika.</a:t>
            </a:r>
            <a:endParaRPr lang="hr-HR" sz="2400" noProof="1"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AE347428-8C19-777C-3C59-34A681154C16}"/>
              </a:ext>
            </a:extLst>
          </p:cNvPr>
          <p:cNvSpPr txBox="1"/>
          <p:nvPr/>
        </p:nvSpPr>
        <p:spPr>
          <a:xfrm>
            <a:off x="272703" y="620924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4</a:t>
            </a:r>
          </a:p>
        </p:txBody>
      </p:sp>
      <p:pic>
        <p:nvPicPr>
          <p:cNvPr id="13" name="Slika 1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57E25912-B457-57C0-9D53-CBC7233E2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92" y="307700"/>
            <a:ext cx="1072148" cy="244739"/>
          </a:xfrm>
          <a:prstGeom prst="rect">
            <a:avLst/>
          </a:prstGeom>
        </p:spPr>
      </p:pic>
      <p:sp>
        <p:nvSpPr>
          <p:cNvPr id="2" name="TekstniOkvir 1">
            <a:extLst>
              <a:ext uri="{FF2B5EF4-FFF2-40B4-BE49-F238E27FC236}">
                <a16:creationId xmlns:a16="http://schemas.microsoft.com/office/drawing/2014/main" id="{3B7F01BA-0B8B-13A0-757B-DB0FFF847E60}"/>
              </a:ext>
            </a:extLst>
          </p:cNvPr>
          <p:cNvSpPr txBox="1"/>
          <p:nvPr/>
        </p:nvSpPr>
        <p:spPr>
          <a:xfrm>
            <a:off x="1014910" y="2542150"/>
            <a:ext cx="42400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Planiranje sastanaka suvlasnika </a:t>
            </a:r>
            <a:r>
              <a:rPr lang="en-GB" sz="24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otežano je zbog zastarjelih metoda komunikacije. Otežan proces sudjelovanja dovodi do slabijeg angažmana suvlasnika koji nemaju osjećaj da njihov glas doprinosi.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0DE2D783-4EFC-C57F-A7A2-3EA5A6B3295A}"/>
              </a:ext>
            </a:extLst>
          </p:cNvPr>
          <p:cNvSpPr txBox="1"/>
          <p:nvPr/>
        </p:nvSpPr>
        <p:spPr>
          <a:xfrm>
            <a:off x="6467782" y="2542150"/>
            <a:ext cx="42400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Nedostatak modela za praćenje povijesti sastanaka, neredovito obavještavanje o odlukama sastanaka i pratećim troškovima suvlasnicima stvaraju </a:t>
            </a:r>
            <a:r>
              <a:rPr lang="en-GB" sz="24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osjećaj manjka transparentnosti</a:t>
            </a:r>
            <a:r>
              <a:rPr lang="en-GB" sz="24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585149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0F94E-B2C6-592E-8933-68ABF6518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>
            <a:extLst>
              <a:ext uri="{FF2B5EF4-FFF2-40B4-BE49-F238E27FC236}">
                <a16:creationId xmlns:a16="http://schemas.microsoft.com/office/drawing/2014/main" id="{9B5E6980-2E7F-85E4-920A-42483C9FF0AB}"/>
              </a:ext>
            </a:extLst>
          </p:cNvPr>
          <p:cNvSpPr txBox="1"/>
          <p:nvPr/>
        </p:nvSpPr>
        <p:spPr>
          <a:xfrm>
            <a:off x="10154068" y="6193857"/>
            <a:ext cx="176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2000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TG 09.3</a:t>
            </a:r>
            <a:endParaRPr lang="hr-HR" sz="2000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64E888C7-8A8A-A04A-05BA-CE4B4F6BAC13}"/>
              </a:ext>
            </a:extLst>
          </p:cNvPr>
          <p:cNvSpPr txBox="1"/>
          <p:nvPr/>
        </p:nvSpPr>
        <p:spPr>
          <a:xfrm>
            <a:off x="1114600" y="479476"/>
            <a:ext cx="5038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Problem –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Postojeća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rješenja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52CA076A-150E-A5F5-18C9-949A862EB5B9}"/>
              </a:ext>
            </a:extLst>
          </p:cNvPr>
          <p:cNvSpPr txBox="1"/>
          <p:nvPr/>
        </p:nvSpPr>
        <p:spPr>
          <a:xfrm>
            <a:off x="272703" y="264033"/>
            <a:ext cx="8418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01</a:t>
            </a:r>
            <a:endParaRPr lang="en-GB" sz="6000" b="1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E57683C2-0C5E-F15D-85BE-01CA3B8364A4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919296" y="430070"/>
            <a:ext cx="0" cy="5963842"/>
          </a:xfrm>
          <a:prstGeom prst="line">
            <a:avLst/>
          </a:prstGeom>
          <a:ln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DFF3F82D-0C16-3B30-127A-FCE6C28A6162}"/>
              </a:ext>
            </a:extLst>
          </p:cNvPr>
          <p:cNvSpPr txBox="1"/>
          <p:nvPr/>
        </p:nvSpPr>
        <p:spPr>
          <a:xfrm>
            <a:off x="1014910" y="1441574"/>
            <a:ext cx="96929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1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Na tržištu već postoje rješenja za neke od navedenih problema…</a:t>
            </a:r>
            <a:endParaRPr lang="hr-HR" sz="2400" noProof="1"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5C83B2AD-9EE6-14D3-321B-595F91C6D27A}"/>
              </a:ext>
            </a:extLst>
          </p:cNvPr>
          <p:cNvSpPr txBox="1"/>
          <p:nvPr/>
        </p:nvSpPr>
        <p:spPr>
          <a:xfrm>
            <a:off x="272703" y="620924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5</a:t>
            </a:r>
          </a:p>
        </p:txBody>
      </p:sp>
      <p:pic>
        <p:nvPicPr>
          <p:cNvPr id="13" name="Slika 1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41384C63-DA8E-6258-9A85-0F6D9BBEC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92" y="307700"/>
            <a:ext cx="1072148" cy="244739"/>
          </a:xfrm>
          <a:prstGeom prst="rect">
            <a:avLst/>
          </a:prstGeom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51DC6C77-1ECD-FC48-4CEC-E48CDA6C2768}"/>
              </a:ext>
            </a:extLst>
          </p:cNvPr>
          <p:cNvSpPr txBox="1"/>
          <p:nvPr/>
        </p:nvSpPr>
        <p:spPr>
          <a:xfrm>
            <a:off x="2677979" y="2473720"/>
            <a:ext cx="28097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Pregled podataka o zgradi</a:t>
            </a:r>
          </a:p>
          <a:p>
            <a:pPr marL="342900" indent="-342900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Sustav obavijesti</a:t>
            </a:r>
          </a:p>
          <a:p>
            <a:pPr marL="342900" indent="-342900">
              <a:buClr>
                <a:srgbClr val="00B050"/>
              </a:buClr>
              <a:buFont typeface="Arial" panose="020B0604020202020204" pitchFamily="34" charset="0"/>
              <a:buChar char="•"/>
            </a:pPr>
            <a:endParaRPr lang="en-GB" sz="2000" noProof="1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Fokus isključivo na financijski aspect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Nedostaje mogućnost sastanaka</a:t>
            </a:r>
          </a:p>
          <a:p>
            <a:endParaRPr lang="en-GB" sz="2000" noProof="1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AC9595F2-65AC-3384-4665-35AC93E09672}"/>
              </a:ext>
            </a:extLst>
          </p:cNvPr>
          <p:cNvSpPr txBox="1"/>
          <p:nvPr/>
        </p:nvSpPr>
        <p:spPr>
          <a:xfrm>
            <a:off x="1014909" y="5489385"/>
            <a:ext cx="96929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1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… ali nismo uspjeli pronaći aplikaciju koja riješava sve</a:t>
            </a:r>
            <a:endParaRPr lang="hr-HR" sz="2400" noProof="1"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pic>
        <p:nvPicPr>
          <p:cNvPr id="15" name="Slika 14" descr="Slika na kojoj se prikazuje simbol, logotip, Trokut, Font&#10;&#10;Sadržaj generiran uz AI možda nije točan.">
            <a:extLst>
              <a:ext uri="{FF2B5EF4-FFF2-40B4-BE49-F238E27FC236}">
                <a16:creationId xmlns:a16="http://schemas.microsoft.com/office/drawing/2014/main" id="{C99AFC18-6D95-979B-55A1-63557A018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877" y="2536831"/>
            <a:ext cx="1843091" cy="21205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Slika 16" descr="Slika na kojoj se prikazuje Font, grafika, tekst, logotip&#10;&#10;Sadržaj generiran uz AI možda nije točan.">
            <a:extLst>
              <a:ext uri="{FF2B5EF4-FFF2-40B4-BE49-F238E27FC236}">
                <a16:creationId xmlns:a16="http://schemas.microsoft.com/office/drawing/2014/main" id="{47C3231D-6C9C-6CBE-E9A9-E05D55DE4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87" y="3294949"/>
            <a:ext cx="1913698" cy="4998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TekstniOkvir 17">
            <a:extLst>
              <a:ext uri="{FF2B5EF4-FFF2-40B4-BE49-F238E27FC236}">
                <a16:creationId xmlns:a16="http://schemas.microsoft.com/office/drawing/2014/main" id="{92ECA2AE-FA0F-3D52-F016-5F2DBF0F8DCB}"/>
              </a:ext>
            </a:extLst>
          </p:cNvPr>
          <p:cNvSpPr txBox="1"/>
          <p:nvPr/>
        </p:nvSpPr>
        <p:spPr>
          <a:xfrm>
            <a:off x="8521131" y="2473720"/>
            <a:ext cx="28097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Izvrstan alat za upravitelja zgrade i njegove referente</a:t>
            </a:r>
          </a:p>
          <a:p>
            <a:pPr marL="342900" indent="-342900">
              <a:buClr>
                <a:srgbClr val="00B050"/>
              </a:buClr>
              <a:buFont typeface="Arial" panose="020B0604020202020204" pitchFamily="34" charset="0"/>
              <a:buChar char="•"/>
            </a:pPr>
            <a:endParaRPr lang="en-GB" sz="2000" noProof="1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Suvlasnicima ne nudi funkcionalnosti</a:t>
            </a:r>
          </a:p>
          <a:p>
            <a:endParaRPr lang="en-GB" sz="2000" noProof="1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789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FEFD3-404E-DCCB-99CD-3AF20D37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>
            <a:extLst>
              <a:ext uri="{FF2B5EF4-FFF2-40B4-BE49-F238E27FC236}">
                <a16:creationId xmlns:a16="http://schemas.microsoft.com/office/drawing/2014/main" id="{0FD724E5-F6EC-96B3-4B08-50E16D2C63C0}"/>
              </a:ext>
            </a:extLst>
          </p:cNvPr>
          <p:cNvSpPr txBox="1"/>
          <p:nvPr/>
        </p:nvSpPr>
        <p:spPr>
          <a:xfrm>
            <a:off x="10154068" y="6193857"/>
            <a:ext cx="176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2000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TG 09.3</a:t>
            </a:r>
            <a:endParaRPr lang="hr-HR" sz="2000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B059ADDB-AD75-2C8C-030D-C61733569E7F}"/>
              </a:ext>
            </a:extLst>
          </p:cNvPr>
          <p:cNvSpPr txBox="1"/>
          <p:nvPr/>
        </p:nvSpPr>
        <p:spPr>
          <a:xfrm>
            <a:off x="1114600" y="479476"/>
            <a:ext cx="1566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Rješenje</a:t>
            </a:r>
            <a:endParaRPr lang="en-GB" sz="32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8C0C7CAC-FD9E-CD6D-FD8A-4C577D72C41C}"/>
              </a:ext>
            </a:extLst>
          </p:cNvPr>
          <p:cNvSpPr txBox="1"/>
          <p:nvPr/>
        </p:nvSpPr>
        <p:spPr>
          <a:xfrm>
            <a:off x="149271" y="264033"/>
            <a:ext cx="965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2</a:t>
            </a:r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8E22C538-5DD2-29DC-952E-19E81FB6664F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919296" y="430070"/>
            <a:ext cx="0" cy="5963842"/>
          </a:xfrm>
          <a:prstGeom prst="line">
            <a:avLst/>
          </a:prstGeom>
          <a:ln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B0091884-BDB2-52FF-1A2E-5474A29038B8}"/>
              </a:ext>
            </a:extLst>
          </p:cNvPr>
          <p:cNvSpPr txBox="1"/>
          <p:nvPr/>
        </p:nvSpPr>
        <p:spPr>
          <a:xfrm>
            <a:off x="272703" y="62092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6</a:t>
            </a:r>
          </a:p>
        </p:txBody>
      </p:sp>
      <p:pic>
        <p:nvPicPr>
          <p:cNvPr id="13" name="Slika 1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94E5F6C5-15BE-CED0-CFA8-746464673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92" y="307700"/>
            <a:ext cx="1072148" cy="244739"/>
          </a:xfrm>
          <a:prstGeom prst="rect">
            <a:avLst/>
          </a:prstGeom>
        </p:spPr>
      </p:pic>
      <p:pic>
        <p:nvPicPr>
          <p:cNvPr id="2" name="Slika 1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FCACEEB4-163D-47C4-6723-10ED142D2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337" y="3055626"/>
            <a:ext cx="3271325" cy="7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92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F82DF-828E-852F-6733-8491762DA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>
            <a:extLst>
              <a:ext uri="{FF2B5EF4-FFF2-40B4-BE49-F238E27FC236}">
                <a16:creationId xmlns:a16="http://schemas.microsoft.com/office/drawing/2014/main" id="{026BA1D1-CAEF-A289-7501-90195999F3E2}"/>
              </a:ext>
            </a:extLst>
          </p:cNvPr>
          <p:cNvSpPr txBox="1"/>
          <p:nvPr/>
        </p:nvSpPr>
        <p:spPr>
          <a:xfrm>
            <a:off x="10154068" y="6193857"/>
            <a:ext cx="176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2000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TG 09.3</a:t>
            </a:r>
            <a:endParaRPr lang="hr-HR" sz="2000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95DA58E2-E6BB-4DE5-5208-4E1FF3FAAFCF}"/>
              </a:ext>
            </a:extLst>
          </p:cNvPr>
          <p:cNvSpPr txBox="1"/>
          <p:nvPr/>
        </p:nvSpPr>
        <p:spPr>
          <a:xfrm>
            <a:off x="1114600" y="479476"/>
            <a:ext cx="1566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Rješenje</a:t>
            </a:r>
            <a:endParaRPr lang="en-GB" sz="32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25C7FC55-F605-593E-46F2-D896C6AFC3DA}"/>
              </a:ext>
            </a:extLst>
          </p:cNvPr>
          <p:cNvSpPr txBox="1"/>
          <p:nvPr/>
        </p:nvSpPr>
        <p:spPr>
          <a:xfrm>
            <a:off x="149271" y="264033"/>
            <a:ext cx="965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2</a:t>
            </a:r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A0824675-0F12-F996-2B71-58E27A204A63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919296" y="430070"/>
            <a:ext cx="0" cy="5963842"/>
          </a:xfrm>
          <a:prstGeom prst="line">
            <a:avLst/>
          </a:prstGeom>
          <a:ln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6A27C9E7-A7C6-E4CA-7A82-1730280176DD}"/>
              </a:ext>
            </a:extLst>
          </p:cNvPr>
          <p:cNvSpPr txBox="1"/>
          <p:nvPr/>
        </p:nvSpPr>
        <p:spPr>
          <a:xfrm>
            <a:off x="272703" y="6209246"/>
            <a:ext cx="27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7</a:t>
            </a:r>
          </a:p>
        </p:txBody>
      </p:sp>
      <p:pic>
        <p:nvPicPr>
          <p:cNvPr id="13" name="Slika 1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D222B618-8C88-C92F-DB7E-CBBDC59BB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92" y="307700"/>
            <a:ext cx="1072148" cy="244739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F9CEAF2C-955E-B593-4D3E-6BFEFA9E0304}"/>
              </a:ext>
            </a:extLst>
          </p:cNvPr>
          <p:cNvSpPr txBox="1"/>
          <p:nvPr/>
        </p:nvSpPr>
        <p:spPr>
          <a:xfrm>
            <a:off x="1014910" y="1441574"/>
            <a:ext cx="9692954" cy="4301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1">
                <a:solidFill>
                  <a:srgbClr val="102A43"/>
                </a:solidFill>
                <a:latin typeface="Montserrat ExtraBold" pitchFamily="2" charset="0"/>
                <a:cs typeface="Rajdhani SemiBold" panose="02000000000000000000" pitchFamily="2" charset="0"/>
              </a:rPr>
              <a:t>Stan</a:t>
            </a:r>
            <a:r>
              <a:rPr lang="en-GB" sz="2400" noProof="1">
                <a:solidFill>
                  <a:srgbClr val="00796B"/>
                </a:solidFill>
                <a:latin typeface="Montserrat ExtraBold" pitchFamily="2" charset="0"/>
                <a:cs typeface="Rajdhani SemiBold" panose="02000000000000000000" pitchFamily="2" charset="0"/>
              </a:rPr>
              <a:t>Blog</a:t>
            </a:r>
            <a:r>
              <a:rPr lang="en-GB" sz="2400" noProof="1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 rješava probleme svih dionika koji sudjeluju u procesu donošenja odluka u stambenim zgradama.</a:t>
            </a:r>
          </a:p>
          <a:p>
            <a:pPr algn="just"/>
            <a:endParaRPr lang="en-GB" sz="2400" noProof="1">
              <a:solidFill>
                <a:srgbClr val="102A43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  <a:p>
            <a:pPr algn="just"/>
            <a:r>
              <a:rPr lang="en-GB" sz="2400" noProof="1">
                <a:solidFill>
                  <a:srgbClr val="102A43"/>
                </a:solidFill>
                <a:latin typeface="Montserrat ExtraBold" pitchFamily="2" charset="0"/>
                <a:cs typeface="Rajdhani SemiBold" panose="02000000000000000000" pitchFamily="2" charset="0"/>
              </a:rPr>
              <a:t>Stan</a:t>
            </a:r>
            <a:r>
              <a:rPr lang="en-GB" sz="2400" noProof="1">
                <a:solidFill>
                  <a:srgbClr val="00796B"/>
                </a:solidFill>
                <a:latin typeface="Montserrat ExtraBold" pitchFamily="2" charset="0"/>
                <a:cs typeface="Rajdhani SemiBold" panose="02000000000000000000" pitchFamily="2" charset="0"/>
              </a:rPr>
              <a:t>Blog</a:t>
            </a:r>
            <a:r>
              <a:rPr lang="en-GB" sz="2400" noProof="1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 omogućava: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Povećanu uključenost suvlasnika u proces donošenja odluka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Digitalno vođenje sastanaka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Pregled povijesti sastanaka i donesenih zaključaka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Automatizirane e-mail obavijesti suvlasnicima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Jednostavno upravljanje točkama dnevnog reda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Integraciju s aplikacijom StanPlan za diskusije sa drugim stanarima</a:t>
            </a:r>
          </a:p>
        </p:txBody>
      </p:sp>
    </p:spTree>
    <p:extLst>
      <p:ext uri="{BB962C8B-B14F-4D97-AF65-F5344CB8AC3E}">
        <p14:creationId xmlns:p14="http://schemas.microsoft.com/office/powerpoint/2010/main" val="2134642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3874B-EE71-D5ED-12E3-A1629A42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>
            <a:extLst>
              <a:ext uri="{FF2B5EF4-FFF2-40B4-BE49-F238E27FC236}">
                <a16:creationId xmlns:a16="http://schemas.microsoft.com/office/drawing/2014/main" id="{7FE04D03-89CE-99E8-3FFA-C5B150F96B14}"/>
              </a:ext>
            </a:extLst>
          </p:cNvPr>
          <p:cNvSpPr txBox="1"/>
          <p:nvPr/>
        </p:nvSpPr>
        <p:spPr>
          <a:xfrm>
            <a:off x="10154068" y="6193857"/>
            <a:ext cx="176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2000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TG 09.3</a:t>
            </a:r>
            <a:endParaRPr lang="hr-HR" sz="2000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FE0AA31B-6015-00D7-C1EF-4D846645DCB7}"/>
              </a:ext>
            </a:extLst>
          </p:cNvPr>
          <p:cNvSpPr txBox="1"/>
          <p:nvPr/>
        </p:nvSpPr>
        <p:spPr>
          <a:xfrm>
            <a:off x="1114600" y="479476"/>
            <a:ext cx="77508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Pregled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zahtjeva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–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Glavni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funkcionalni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zahtjevi</a:t>
            </a:r>
            <a:endParaRPr lang="en-GB" sz="32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559A85AD-8339-BBEF-0555-40494B65B60B}"/>
              </a:ext>
            </a:extLst>
          </p:cNvPr>
          <p:cNvSpPr txBox="1"/>
          <p:nvPr/>
        </p:nvSpPr>
        <p:spPr>
          <a:xfrm>
            <a:off x="136447" y="264033"/>
            <a:ext cx="9781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3</a:t>
            </a:r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36E2B245-EF0C-EA3F-03DF-22B2FC4DB612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919296" y="430070"/>
            <a:ext cx="0" cy="5963842"/>
          </a:xfrm>
          <a:prstGeom prst="line">
            <a:avLst/>
          </a:prstGeom>
          <a:ln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2CD69673-111B-96C4-4142-CF1F94FD6CD5}"/>
              </a:ext>
            </a:extLst>
          </p:cNvPr>
          <p:cNvSpPr txBox="1"/>
          <p:nvPr/>
        </p:nvSpPr>
        <p:spPr>
          <a:xfrm>
            <a:off x="272703" y="620924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8</a:t>
            </a:r>
          </a:p>
        </p:txBody>
      </p:sp>
      <p:pic>
        <p:nvPicPr>
          <p:cNvPr id="13" name="Slika 1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B074B019-6C54-7CCB-E764-A3D4A21E5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92" y="307700"/>
            <a:ext cx="1072148" cy="244739"/>
          </a:xfrm>
          <a:prstGeom prst="rect">
            <a:avLst/>
          </a:prstGeom>
        </p:spPr>
      </p:pic>
      <p:graphicFrame>
        <p:nvGraphicFramePr>
          <p:cNvPr id="2" name="Tablica 1">
            <a:extLst>
              <a:ext uri="{FF2B5EF4-FFF2-40B4-BE49-F238E27FC236}">
                <a16:creationId xmlns:a16="http://schemas.microsoft.com/office/drawing/2014/main" id="{126EF2C5-57BF-893E-D2FA-183F2CF47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89667"/>
              </p:ext>
            </p:extLst>
          </p:nvPr>
        </p:nvGraphicFramePr>
        <p:xfrm>
          <a:off x="1960884" y="1590658"/>
          <a:ext cx="7813034" cy="4456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281">
                  <a:extLst>
                    <a:ext uri="{9D8B030D-6E8A-4147-A177-3AD203B41FA5}">
                      <a16:colId xmlns:a16="http://schemas.microsoft.com/office/drawing/2014/main" val="2265080403"/>
                    </a:ext>
                  </a:extLst>
                </a:gridCol>
                <a:gridCol w="6910753">
                  <a:extLst>
                    <a:ext uri="{9D8B030D-6E8A-4147-A177-3AD203B41FA5}">
                      <a16:colId xmlns:a16="http://schemas.microsoft.com/office/drawing/2014/main" val="817425663"/>
                    </a:ext>
                  </a:extLst>
                </a:gridCol>
              </a:tblGrid>
              <a:tr h="445239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00796B"/>
                          </a:solidFill>
                          <a:latin typeface="Rajdhani SemiBold" panose="02000000000000000000" pitchFamily="2" charset="0"/>
                          <a:cs typeface="Rajdhani SemiBold" panose="02000000000000000000" pitchFamily="2" charset="0"/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 err="1">
                          <a:solidFill>
                            <a:srgbClr val="00796B"/>
                          </a:solidFill>
                          <a:latin typeface="Rajdhani SemiBold" panose="02000000000000000000" pitchFamily="2" charset="0"/>
                          <a:cs typeface="Rajdhani SemiBold" panose="02000000000000000000" pitchFamily="2" charset="0"/>
                        </a:rPr>
                        <a:t>Opis</a:t>
                      </a:r>
                      <a:endParaRPr lang="en-GB" sz="2400" b="0" dirty="0">
                        <a:solidFill>
                          <a:srgbClr val="00796B"/>
                        </a:solidFill>
                        <a:latin typeface="Rajdhani SemiBold" panose="02000000000000000000" pitchFamily="2" charset="0"/>
                        <a:cs typeface="Rajdhani SemiBold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165012"/>
                  </a:ext>
                </a:extLst>
              </a:tr>
              <a:tr h="76913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F-004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Sustav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omogućuje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predstavniku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suvlasnika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kreiranje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novog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sastanka</a:t>
                      </a:r>
                      <a:endParaRPr lang="en-GB" sz="2000" dirty="0">
                        <a:solidFill>
                          <a:srgbClr val="102A43"/>
                        </a:solidFill>
                        <a:latin typeface="Rajdhani Medium" panose="02000000000000000000" pitchFamily="2" charset="0"/>
                        <a:cs typeface="Rajdhani Medium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248144"/>
                  </a:ext>
                </a:extLst>
              </a:tr>
              <a:tr h="76913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F-005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Sustav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omogućuje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predstavniku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suvlasnika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dodavanje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točke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dnevnog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reda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/bez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pravnog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učinka</a:t>
                      </a:r>
                      <a:endParaRPr lang="en-GB" sz="2000" dirty="0">
                        <a:solidFill>
                          <a:srgbClr val="102A43"/>
                        </a:solidFill>
                        <a:latin typeface="Rajdhani Medium" panose="02000000000000000000" pitchFamily="2" charset="0"/>
                        <a:cs typeface="Rajdhani Medium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396692"/>
                  </a:ext>
                </a:extLst>
              </a:tr>
              <a:tr h="76913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F-009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Sustav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omogućuje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predstavniku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suvlasnika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prebacivanje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sastanka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u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stanje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ARHIVIRAN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251266"/>
                  </a:ext>
                </a:extLst>
              </a:tr>
              <a:tr h="76913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F-012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Sustav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se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kao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klijent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spaja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na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aplikacijsko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sučelje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aplikacije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StanBlog</a:t>
                      </a:r>
                      <a:endParaRPr lang="en-GB" sz="2000" dirty="0">
                        <a:solidFill>
                          <a:srgbClr val="102A43"/>
                        </a:solidFill>
                        <a:latin typeface="Rajdhani Medium" panose="02000000000000000000" pitchFamily="2" charset="0"/>
                        <a:cs typeface="Rajdhani Medium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457424"/>
                  </a:ext>
                </a:extLst>
              </a:tr>
              <a:tr h="92260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F-017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Sustav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omogućuje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korisniku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suvlasniku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sudjelovanje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u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glasanju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o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točkama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dnevnog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reda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koje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imaju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pravni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učinak</a:t>
                      </a:r>
                      <a:endParaRPr lang="en-GB" sz="2000" dirty="0">
                        <a:solidFill>
                          <a:srgbClr val="102A43"/>
                        </a:solidFill>
                        <a:latin typeface="Rajdhani Medium" panose="02000000000000000000" pitchFamily="2" charset="0"/>
                        <a:cs typeface="Rajdhani Medium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728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90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E7186-E5EF-1A43-41A1-77B2A2B90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>
            <a:extLst>
              <a:ext uri="{FF2B5EF4-FFF2-40B4-BE49-F238E27FC236}">
                <a16:creationId xmlns:a16="http://schemas.microsoft.com/office/drawing/2014/main" id="{E1C8FB01-72DD-5F9F-4BA7-DDAD36DB8253}"/>
              </a:ext>
            </a:extLst>
          </p:cNvPr>
          <p:cNvSpPr txBox="1"/>
          <p:nvPr/>
        </p:nvSpPr>
        <p:spPr>
          <a:xfrm>
            <a:off x="10154068" y="6193857"/>
            <a:ext cx="176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2000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TG 09.3</a:t>
            </a:r>
            <a:endParaRPr lang="hr-HR" sz="2000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25E07390-B646-9092-4844-70311DBBC813}"/>
              </a:ext>
            </a:extLst>
          </p:cNvPr>
          <p:cNvSpPr txBox="1"/>
          <p:nvPr/>
        </p:nvSpPr>
        <p:spPr>
          <a:xfrm>
            <a:off x="1114600" y="479476"/>
            <a:ext cx="81852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Pregled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zahtjeva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–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Odabrani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nefunkcijski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zahtjevi</a:t>
            </a:r>
            <a:endParaRPr lang="en-GB" sz="32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8B8B4A06-6586-6AFF-A288-E690861657B2}"/>
              </a:ext>
            </a:extLst>
          </p:cNvPr>
          <p:cNvSpPr txBox="1"/>
          <p:nvPr/>
        </p:nvSpPr>
        <p:spPr>
          <a:xfrm>
            <a:off x="136447" y="264033"/>
            <a:ext cx="9781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3</a:t>
            </a:r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92ED6A89-EE0D-6D66-91F7-82B35D3B3C1D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919296" y="430070"/>
            <a:ext cx="0" cy="5963842"/>
          </a:xfrm>
          <a:prstGeom prst="line">
            <a:avLst/>
          </a:prstGeom>
          <a:ln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57B74C56-E95C-FF8F-9FAD-6D9ACB430325}"/>
              </a:ext>
            </a:extLst>
          </p:cNvPr>
          <p:cNvSpPr txBox="1"/>
          <p:nvPr/>
        </p:nvSpPr>
        <p:spPr>
          <a:xfrm>
            <a:off x="272703" y="62092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9</a:t>
            </a:r>
          </a:p>
        </p:txBody>
      </p:sp>
      <p:pic>
        <p:nvPicPr>
          <p:cNvPr id="13" name="Slika 1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5F5728C6-3BC5-E440-9C1B-25A2831FB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92" y="307700"/>
            <a:ext cx="1072148" cy="244739"/>
          </a:xfrm>
          <a:prstGeom prst="rect">
            <a:avLst/>
          </a:prstGeom>
        </p:spPr>
      </p:pic>
      <p:graphicFrame>
        <p:nvGraphicFramePr>
          <p:cNvPr id="2" name="Tablica 1">
            <a:extLst>
              <a:ext uri="{FF2B5EF4-FFF2-40B4-BE49-F238E27FC236}">
                <a16:creationId xmlns:a16="http://schemas.microsoft.com/office/drawing/2014/main" id="{DDD5D2BE-17D7-3006-7D58-CACE7AD20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326625"/>
              </p:ext>
            </p:extLst>
          </p:nvPr>
        </p:nvGraphicFramePr>
        <p:xfrm>
          <a:off x="1960884" y="1590658"/>
          <a:ext cx="7813034" cy="4456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2281">
                  <a:extLst>
                    <a:ext uri="{9D8B030D-6E8A-4147-A177-3AD203B41FA5}">
                      <a16:colId xmlns:a16="http://schemas.microsoft.com/office/drawing/2014/main" val="2265080403"/>
                    </a:ext>
                  </a:extLst>
                </a:gridCol>
                <a:gridCol w="6910753">
                  <a:extLst>
                    <a:ext uri="{9D8B030D-6E8A-4147-A177-3AD203B41FA5}">
                      <a16:colId xmlns:a16="http://schemas.microsoft.com/office/drawing/2014/main" val="817425663"/>
                    </a:ext>
                  </a:extLst>
                </a:gridCol>
              </a:tblGrid>
              <a:tr h="445239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00796B"/>
                          </a:solidFill>
                          <a:latin typeface="Rajdhani SemiBold" panose="02000000000000000000" pitchFamily="2" charset="0"/>
                          <a:cs typeface="Rajdhani SemiBold" panose="02000000000000000000" pitchFamily="2" charset="0"/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 err="1">
                          <a:solidFill>
                            <a:srgbClr val="00796B"/>
                          </a:solidFill>
                          <a:latin typeface="Rajdhani SemiBold" panose="02000000000000000000" pitchFamily="2" charset="0"/>
                          <a:cs typeface="Rajdhani SemiBold" panose="02000000000000000000" pitchFamily="2" charset="0"/>
                        </a:rPr>
                        <a:t>Opis</a:t>
                      </a:r>
                      <a:endParaRPr lang="en-GB" sz="2400" b="0" dirty="0">
                        <a:solidFill>
                          <a:srgbClr val="00796B"/>
                        </a:solidFill>
                        <a:latin typeface="Rajdhani SemiBold" panose="02000000000000000000" pitchFamily="2" charset="0"/>
                        <a:cs typeface="Rajdhani SemiBold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165012"/>
                  </a:ext>
                </a:extLst>
              </a:tr>
              <a:tr h="76913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NF-1.1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Podrška za prikaz na desktop i mobilnim uređajima</a:t>
                      </a:r>
                      <a:endParaRPr lang="en-GB" sz="2000" dirty="0">
                        <a:solidFill>
                          <a:srgbClr val="102A43"/>
                        </a:solidFill>
                        <a:latin typeface="Rajdhani Medium" panose="02000000000000000000" pitchFamily="2" charset="0"/>
                        <a:cs typeface="Rajdhani Medium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248144"/>
                  </a:ext>
                </a:extLst>
              </a:tr>
              <a:tr h="76913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NF-1.4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Sustav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mora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moći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podržavati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veći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broj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istovremenih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korisnika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bez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značajnog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povećanja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vremena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odziva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396692"/>
                  </a:ext>
                </a:extLst>
              </a:tr>
              <a:tr h="76913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NF-1.6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Zaštita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pohranjenih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podataka</a:t>
                      </a:r>
                      <a:endParaRPr lang="en-GB" sz="2000" dirty="0">
                        <a:solidFill>
                          <a:srgbClr val="102A43"/>
                        </a:solidFill>
                        <a:latin typeface="Rajdhani Medium" panose="02000000000000000000" pitchFamily="2" charset="0"/>
                        <a:cs typeface="Rajdhani Medium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251266"/>
                  </a:ext>
                </a:extLst>
              </a:tr>
              <a:tr h="76913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NF-1.11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Sustav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mora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biti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kompatibilan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s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najčešće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korištenim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web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preglednicima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(Chrome, Firefox)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457424"/>
                  </a:ext>
                </a:extLst>
              </a:tr>
              <a:tr h="92260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NF-1.12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Sustav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mora bit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dostupan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korisnicima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24/7,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neovisno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o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njihovoj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geografskoj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lokaciji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i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vremenskoj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 </a:t>
                      </a:r>
                      <a:r>
                        <a:rPr lang="en-GB" sz="2000" dirty="0" err="1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zoni</a:t>
                      </a:r>
                      <a:r>
                        <a:rPr lang="en-GB" sz="2000" dirty="0">
                          <a:solidFill>
                            <a:srgbClr val="102A43"/>
                          </a:solidFill>
                          <a:latin typeface="Rajdhani Medium" panose="02000000000000000000" pitchFamily="2" charset="0"/>
                          <a:cs typeface="Rajdhani Medium" panose="02000000000000000000" pitchFamily="2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728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5197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293F9-35BF-CFD2-1202-170C6FD44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>
            <a:extLst>
              <a:ext uri="{FF2B5EF4-FFF2-40B4-BE49-F238E27FC236}">
                <a16:creationId xmlns:a16="http://schemas.microsoft.com/office/drawing/2014/main" id="{7853A790-A421-FB8D-9AF6-EB5C5507A321}"/>
              </a:ext>
            </a:extLst>
          </p:cNvPr>
          <p:cNvSpPr txBox="1"/>
          <p:nvPr/>
        </p:nvSpPr>
        <p:spPr>
          <a:xfrm>
            <a:off x="10154068" y="6193857"/>
            <a:ext cx="176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2000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TG 09.3</a:t>
            </a:r>
            <a:endParaRPr lang="hr-HR" sz="2000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2A4FD4CF-28A1-B046-1715-123F38513A15}"/>
              </a:ext>
            </a:extLst>
          </p:cNvPr>
          <p:cNvSpPr txBox="1"/>
          <p:nvPr/>
        </p:nvSpPr>
        <p:spPr>
          <a:xfrm>
            <a:off x="1114600" y="479476"/>
            <a:ext cx="7798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Pregled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zahtjeva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– UML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dijagram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visoke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razine</a:t>
            </a:r>
            <a:endParaRPr lang="en-GB" sz="32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AE47FD46-699E-F5DB-AF2B-92EFB307B97E}"/>
              </a:ext>
            </a:extLst>
          </p:cNvPr>
          <p:cNvSpPr txBox="1"/>
          <p:nvPr/>
        </p:nvSpPr>
        <p:spPr>
          <a:xfrm>
            <a:off x="136447" y="264033"/>
            <a:ext cx="9781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3</a:t>
            </a:r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2C085315-84C7-A8CC-B23E-7D57118FC28D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919296" y="430070"/>
            <a:ext cx="0" cy="5963842"/>
          </a:xfrm>
          <a:prstGeom prst="line">
            <a:avLst/>
          </a:prstGeom>
          <a:ln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A9CA81EA-59E9-9615-E1D3-E8B8FA4EB08D}"/>
              </a:ext>
            </a:extLst>
          </p:cNvPr>
          <p:cNvSpPr txBox="1"/>
          <p:nvPr/>
        </p:nvSpPr>
        <p:spPr>
          <a:xfrm>
            <a:off x="272703" y="620924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10</a:t>
            </a:r>
          </a:p>
        </p:txBody>
      </p:sp>
      <p:pic>
        <p:nvPicPr>
          <p:cNvPr id="13" name="Slika 1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E77E188F-2FEF-274D-0E8A-441732B87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92" y="307700"/>
            <a:ext cx="1072148" cy="244739"/>
          </a:xfrm>
          <a:prstGeom prst="rect">
            <a:avLst/>
          </a:prstGeom>
        </p:spPr>
      </p:pic>
      <p:pic>
        <p:nvPicPr>
          <p:cNvPr id="3" name="Slika 2" descr="Slika na kojoj se prikazuje dijagram, crta, tekst&#10;&#10;Sadržaj generiran uz AI možda nije točan.">
            <a:extLst>
              <a:ext uri="{FF2B5EF4-FFF2-40B4-BE49-F238E27FC236}">
                <a16:creationId xmlns:a16="http://schemas.microsoft.com/office/drawing/2014/main" id="{F309BB65-0B24-DF60-5B96-8AF7FAF343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061" y="1357065"/>
            <a:ext cx="7039878" cy="4714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1646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F2FD1-7924-9BCA-42A9-5F75FBC3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>
            <a:extLst>
              <a:ext uri="{FF2B5EF4-FFF2-40B4-BE49-F238E27FC236}">
                <a16:creationId xmlns:a16="http://schemas.microsoft.com/office/drawing/2014/main" id="{A7DDB266-898F-E268-2DD6-D253813BDCFF}"/>
              </a:ext>
            </a:extLst>
          </p:cNvPr>
          <p:cNvSpPr txBox="1"/>
          <p:nvPr/>
        </p:nvSpPr>
        <p:spPr>
          <a:xfrm>
            <a:off x="10154068" y="6193857"/>
            <a:ext cx="176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2000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TG 09.3</a:t>
            </a:r>
            <a:endParaRPr lang="hr-HR" sz="2000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375218CA-6D42-1058-E3C6-9F92879D2E04}"/>
              </a:ext>
            </a:extLst>
          </p:cNvPr>
          <p:cNvSpPr txBox="1"/>
          <p:nvPr/>
        </p:nvSpPr>
        <p:spPr>
          <a:xfrm>
            <a:off x="1114600" y="479476"/>
            <a:ext cx="3429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Arhitektura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sustava</a:t>
            </a:r>
            <a:endParaRPr lang="en-GB" sz="32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8A01788D-63B2-8E96-2339-51A20C2A7F1E}"/>
              </a:ext>
            </a:extLst>
          </p:cNvPr>
          <p:cNvSpPr txBox="1"/>
          <p:nvPr/>
        </p:nvSpPr>
        <p:spPr>
          <a:xfrm>
            <a:off x="114005" y="264033"/>
            <a:ext cx="10005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4</a:t>
            </a:r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C8BDADED-2352-ABB9-77D3-1496CE2B47A9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919296" y="430070"/>
            <a:ext cx="0" cy="5963842"/>
          </a:xfrm>
          <a:prstGeom prst="line">
            <a:avLst/>
          </a:prstGeom>
          <a:ln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492C2E0D-DC72-B729-1BD4-9B181D96423B}"/>
              </a:ext>
            </a:extLst>
          </p:cNvPr>
          <p:cNvSpPr txBox="1"/>
          <p:nvPr/>
        </p:nvSpPr>
        <p:spPr>
          <a:xfrm>
            <a:off x="272703" y="6209246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11</a:t>
            </a:r>
          </a:p>
        </p:txBody>
      </p:sp>
      <p:pic>
        <p:nvPicPr>
          <p:cNvPr id="13" name="Slika 1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5D13420C-60B7-168D-366D-D241B4F95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92" y="307700"/>
            <a:ext cx="1072148" cy="244739"/>
          </a:xfrm>
          <a:prstGeom prst="rect">
            <a:avLst/>
          </a:prstGeom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B4412ACA-CABA-8AE6-D676-BD8FB6C59992}"/>
              </a:ext>
            </a:extLst>
          </p:cNvPr>
          <p:cNvSpPr txBox="1"/>
          <p:nvPr/>
        </p:nvSpPr>
        <p:spPr>
          <a:xfrm>
            <a:off x="689790" y="1441574"/>
            <a:ext cx="4394640" cy="420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Klijent-poslužitelj model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Razdvojeni frontend (React) i backend (Spring Boot)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Tri glavna podsustava:</a:t>
            </a:r>
          </a:p>
          <a:p>
            <a:pPr marL="800100" lvl="1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Upravljanje korisnicima</a:t>
            </a:r>
          </a:p>
          <a:p>
            <a:pPr marL="800100" lvl="1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Upravljanje sastancima</a:t>
            </a:r>
          </a:p>
          <a:p>
            <a:pPr marL="800100" lvl="1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Pregled i sudjelovanje suvlasnika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PostgreSQL baza podataka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Oauth 2.0 standard</a:t>
            </a:r>
          </a:p>
        </p:txBody>
      </p:sp>
      <p:sp>
        <p:nvSpPr>
          <p:cNvPr id="10" name="Pravokutnik: zaobljeni kutovi 9">
            <a:extLst>
              <a:ext uri="{FF2B5EF4-FFF2-40B4-BE49-F238E27FC236}">
                <a16:creationId xmlns:a16="http://schemas.microsoft.com/office/drawing/2014/main" id="{C7533A86-4100-E006-8AAB-71DECD062B90}"/>
              </a:ext>
            </a:extLst>
          </p:cNvPr>
          <p:cNvSpPr/>
          <p:nvPr/>
        </p:nvSpPr>
        <p:spPr>
          <a:xfrm>
            <a:off x="9015279" y="1203151"/>
            <a:ext cx="1605269" cy="825509"/>
          </a:xfrm>
          <a:prstGeom prst="roundRect">
            <a:avLst>
              <a:gd name="adj" fmla="val 15539"/>
            </a:avLst>
          </a:prstGeom>
          <a:noFill/>
          <a:ln w="38100">
            <a:solidFill>
              <a:srgbClr val="0079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Spring Boot</a:t>
            </a:r>
          </a:p>
        </p:txBody>
      </p:sp>
      <p:sp>
        <p:nvSpPr>
          <p:cNvPr id="11" name="Pravokutnik: zaobljeni kutovi 10">
            <a:extLst>
              <a:ext uri="{FF2B5EF4-FFF2-40B4-BE49-F238E27FC236}">
                <a16:creationId xmlns:a16="http://schemas.microsoft.com/office/drawing/2014/main" id="{2E39AAA4-1B93-1C52-C352-E2C8A2142CBB}"/>
              </a:ext>
            </a:extLst>
          </p:cNvPr>
          <p:cNvSpPr/>
          <p:nvPr/>
        </p:nvSpPr>
        <p:spPr>
          <a:xfrm>
            <a:off x="5781287" y="3155145"/>
            <a:ext cx="1605269" cy="825509"/>
          </a:xfrm>
          <a:prstGeom prst="roundRect">
            <a:avLst>
              <a:gd name="adj" fmla="val 15539"/>
            </a:avLst>
          </a:prstGeom>
          <a:noFill/>
          <a:ln w="38100">
            <a:solidFill>
              <a:srgbClr val="0079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Controller</a:t>
            </a:r>
          </a:p>
        </p:txBody>
      </p:sp>
      <p:sp>
        <p:nvSpPr>
          <p:cNvPr id="15" name="Pravokutnik: zaobljeni kutovi 14">
            <a:extLst>
              <a:ext uri="{FF2B5EF4-FFF2-40B4-BE49-F238E27FC236}">
                <a16:creationId xmlns:a16="http://schemas.microsoft.com/office/drawing/2014/main" id="{F7BD54C3-B096-54AF-05C5-D4E6C8191799}"/>
              </a:ext>
            </a:extLst>
          </p:cNvPr>
          <p:cNvSpPr/>
          <p:nvPr/>
        </p:nvSpPr>
        <p:spPr>
          <a:xfrm>
            <a:off x="6583938" y="1203151"/>
            <a:ext cx="1605269" cy="825509"/>
          </a:xfrm>
          <a:prstGeom prst="roundRect">
            <a:avLst>
              <a:gd name="adj" fmla="val 15539"/>
            </a:avLst>
          </a:prstGeom>
          <a:noFill/>
          <a:ln w="38100">
            <a:solidFill>
              <a:srgbClr val="0079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React</a:t>
            </a:r>
          </a:p>
        </p:txBody>
      </p:sp>
      <p:sp>
        <p:nvSpPr>
          <p:cNvPr id="16" name="Pravokutnik: zaobljeni kutovi 15">
            <a:extLst>
              <a:ext uri="{FF2B5EF4-FFF2-40B4-BE49-F238E27FC236}">
                <a16:creationId xmlns:a16="http://schemas.microsoft.com/office/drawing/2014/main" id="{BB5BD345-C174-3C91-80BC-99023DEE537C}"/>
              </a:ext>
            </a:extLst>
          </p:cNvPr>
          <p:cNvSpPr/>
          <p:nvPr/>
        </p:nvSpPr>
        <p:spPr>
          <a:xfrm>
            <a:off x="7785424" y="3138136"/>
            <a:ext cx="1605269" cy="825509"/>
          </a:xfrm>
          <a:prstGeom prst="roundRect">
            <a:avLst>
              <a:gd name="adj" fmla="val 15539"/>
            </a:avLst>
          </a:prstGeom>
          <a:noFill/>
          <a:ln w="38100">
            <a:solidFill>
              <a:srgbClr val="0079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Service</a:t>
            </a:r>
          </a:p>
        </p:txBody>
      </p:sp>
      <p:sp>
        <p:nvSpPr>
          <p:cNvPr id="17" name="Pravokutnik: zaobljeni kutovi 16">
            <a:extLst>
              <a:ext uri="{FF2B5EF4-FFF2-40B4-BE49-F238E27FC236}">
                <a16:creationId xmlns:a16="http://schemas.microsoft.com/office/drawing/2014/main" id="{08061175-76D0-941D-4405-740131344EB4}"/>
              </a:ext>
            </a:extLst>
          </p:cNvPr>
          <p:cNvSpPr/>
          <p:nvPr/>
        </p:nvSpPr>
        <p:spPr>
          <a:xfrm>
            <a:off x="9789561" y="3121127"/>
            <a:ext cx="1605269" cy="825509"/>
          </a:xfrm>
          <a:prstGeom prst="roundRect">
            <a:avLst>
              <a:gd name="adj" fmla="val 15539"/>
            </a:avLst>
          </a:prstGeom>
          <a:noFill/>
          <a:ln w="38100">
            <a:solidFill>
              <a:srgbClr val="0079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Repository</a:t>
            </a:r>
          </a:p>
        </p:txBody>
      </p:sp>
      <p:sp>
        <p:nvSpPr>
          <p:cNvPr id="18" name="Pravokutnik: zaobljeni kutovi 17">
            <a:extLst>
              <a:ext uri="{FF2B5EF4-FFF2-40B4-BE49-F238E27FC236}">
                <a16:creationId xmlns:a16="http://schemas.microsoft.com/office/drawing/2014/main" id="{792ACACF-7FD9-B92E-17C7-88779C04B1A2}"/>
              </a:ext>
            </a:extLst>
          </p:cNvPr>
          <p:cNvSpPr/>
          <p:nvPr/>
        </p:nvSpPr>
        <p:spPr>
          <a:xfrm>
            <a:off x="9789561" y="4888967"/>
            <a:ext cx="1605269" cy="825509"/>
          </a:xfrm>
          <a:prstGeom prst="roundRect">
            <a:avLst>
              <a:gd name="adj" fmla="val 15539"/>
            </a:avLst>
          </a:prstGeom>
          <a:noFill/>
          <a:ln w="38100">
            <a:solidFill>
              <a:srgbClr val="0079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PostgreSQL</a:t>
            </a:r>
          </a:p>
        </p:txBody>
      </p:sp>
      <p:cxnSp>
        <p:nvCxnSpPr>
          <p:cNvPr id="20" name="Ravni poveznik sa strelicom 19">
            <a:extLst>
              <a:ext uri="{FF2B5EF4-FFF2-40B4-BE49-F238E27FC236}">
                <a16:creationId xmlns:a16="http://schemas.microsoft.com/office/drawing/2014/main" id="{23AB15CC-2543-5684-8D02-DFBABFD337F8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10592196" y="3946636"/>
            <a:ext cx="0" cy="942331"/>
          </a:xfrm>
          <a:prstGeom prst="straightConnector1">
            <a:avLst/>
          </a:prstGeom>
          <a:ln w="28575">
            <a:solidFill>
              <a:srgbClr val="0079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avni poveznik 21">
            <a:extLst>
              <a:ext uri="{FF2B5EF4-FFF2-40B4-BE49-F238E27FC236}">
                <a16:creationId xmlns:a16="http://schemas.microsoft.com/office/drawing/2014/main" id="{D452840A-F79F-D310-DA5F-8BD9A9A09B57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817914" y="2028660"/>
            <a:ext cx="0" cy="560342"/>
          </a:xfrm>
          <a:prstGeom prst="line">
            <a:avLst/>
          </a:prstGeom>
          <a:ln w="28575"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avni poveznik 22">
            <a:extLst>
              <a:ext uri="{FF2B5EF4-FFF2-40B4-BE49-F238E27FC236}">
                <a16:creationId xmlns:a16="http://schemas.microsoft.com/office/drawing/2014/main" id="{2086B898-DC19-A76B-352D-A2030770B213}"/>
              </a:ext>
            </a:extLst>
          </p:cNvPr>
          <p:cNvCxnSpPr>
            <a:cxnSpLocks/>
          </p:cNvCxnSpPr>
          <p:nvPr/>
        </p:nvCxnSpPr>
        <p:spPr>
          <a:xfrm>
            <a:off x="6583921" y="2589002"/>
            <a:ext cx="4008274" cy="0"/>
          </a:xfrm>
          <a:prstGeom prst="line">
            <a:avLst/>
          </a:prstGeom>
          <a:ln w="28575"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avni poveznik sa strelicom 26">
            <a:extLst>
              <a:ext uri="{FF2B5EF4-FFF2-40B4-BE49-F238E27FC236}">
                <a16:creationId xmlns:a16="http://schemas.microsoft.com/office/drawing/2014/main" id="{C65DE667-B300-46C9-494F-E983291D7630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10592195" y="2589002"/>
            <a:ext cx="1" cy="532125"/>
          </a:xfrm>
          <a:prstGeom prst="straightConnector1">
            <a:avLst/>
          </a:prstGeom>
          <a:ln w="28575">
            <a:solidFill>
              <a:srgbClr val="0079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avni poveznik sa strelicom 28">
            <a:extLst>
              <a:ext uri="{FF2B5EF4-FFF2-40B4-BE49-F238E27FC236}">
                <a16:creationId xmlns:a16="http://schemas.microsoft.com/office/drawing/2014/main" id="{F2FA9325-30B0-A458-EBE3-A89F069CCD13}"/>
              </a:ext>
            </a:extLst>
          </p:cNvPr>
          <p:cNvCxnSpPr>
            <a:cxnSpLocks/>
          </p:cNvCxnSpPr>
          <p:nvPr/>
        </p:nvCxnSpPr>
        <p:spPr>
          <a:xfrm>
            <a:off x="8588058" y="2589001"/>
            <a:ext cx="1" cy="532125"/>
          </a:xfrm>
          <a:prstGeom prst="straightConnector1">
            <a:avLst/>
          </a:prstGeom>
          <a:ln w="28575">
            <a:solidFill>
              <a:srgbClr val="0079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avni poveznik sa strelicom 29">
            <a:extLst>
              <a:ext uri="{FF2B5EF4-FFF2-40B4-BE49-F238E27FC236}">
                <a16:creationId xmlns:a16="http://schemas.microsoft.com/office/drawing/2014/main" id="{B418C19B-7EBB-8413-01C7-45A5EE95B71B}"/>
              </a:ext>
            </a:extLst>
          </p:cNvPr>
          <p:cNvCxnSpPr>
            <a:cxnSpLocks/>
          </p:cNvCxnSpPr>
          <p:nvPr/>
        </p:nvCxnSpPr>
        <p:spPr>
          <a:xfrm>
            <a:off x="6583921" y="2589000"/>
            <a:ext cx="1" cy="532125"/>
          </a:xfrm>
          <a:prstGeom prst="straightConnector1">
            <a:avLst/>
          </a:prstGeom>
          <a:ln w="28575">
            <a:solidFill>
              <a:srgbClr val="0079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avni poveznik 30">
            <a:extLst>
              <a:ext uri="{FF2B5EF4-FFF2-40B4-BE49-F238E27FC236}">
                <a16:creationId xmlns:a16="http://schemas.microsoft.com/office/drawing/2014/main" id="{5C092159-D83F-A5C5-1646-3D6C2FF58FA2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>
            <a:off x="8189207" y="1615906"/>
            <a:ext cx="826072" cy="0"/>
          </a:xfrm>
          <a:prstGeom prst="line">
            <a:avLst/>
          </a:prstGeom>
          <a:ln w="28575"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kstniOkvir 33">
            <a:extLst>
              <a:ext uri="{FF2B5EF4-FFF2-40B4-BE49-F238E27FC236}">
                <a16:creationId xmlns:a16="http://schemas.microsoft.com/office/drawing/2014/main" id="{9A920EE4-5032-05C2-F8AC-4491EC52FE6E}"/>
              </a:ext>
            </a:extLst>
          </p:cNvPr>
          <p:cNvSpPr txBox="1"/>
          <p:nvPr/>
        </p:nvSpPr>
        <p:spPr>
          <a:xfrm>
            <a:off x="8282263" y="1030534"/>
            <a:ext cx="688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REST</a:t>
            </a:r>
            <a:br>
              <a:rPr lang="en-GB" dirty="0"/>
            </a:br>
            <a:r>
              <a:rPr lang="en-GB" dirty="0"/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973402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0F15-B1E5-A959-9FAE-C5842C437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>
            <a:extLst>
              <a:ext uri="{FF2B5EF4-FFF2-40B4-BE49-F238E27FC236}">
                <a16:creationId xmlns:a16="http://schemas.microsoft.com/office/drawing/2014/main" id="{4AC13773-2251-9C3A-D8A4-A850F896CF3B}"/>
              </a:ext>
            </a:extLst>
          </p:cNvPr>
          <p:cNvSpPr txBox="1"/>
          <p:nvPr/>
        </p:nvSpPr>
        <p:spPr>
          <a:xfrm>
            <a:off x="10154068" y="6193857"/>
            <a:ext cx="176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2000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TG 09.3</a:t>
            </a:r>
            <a:endParaRPr lang="hr-HR" sz="2000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FEF69773-CC9D-9BE3-C8CF-270F634D382A}"/>
              </a:ext>
            </a:extLst>
          </p:cNvPr>
          <p:cNvSpPr txBox="1"/>
          <p:nvPr/>
        </p:nvSpPr>
        <p:spPr>
          <a:xfrm>
            <a:off x="1114600" y="479476"/>
            <a:ext cx="30235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Organizacija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rada</a:t>
            </a: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704FC7D4-BCC4-09B8-0024-DF8C61955058}"/>
              </a:ext>
            </a:extLst>
          </p:cNvPr>
          <p:cNvSpPr txBox="1"/>
          <p:nvPr/>
        </p:nvSpPr>
        <p:spPr>
          <a:xfrm>
            <a:off x="141257" y="264033"/>
            <a:ext cx="9733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5</a:t>
            </a:r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DEC105AD-F88B-A739-F063-C4784EDD5D46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919296" y="430070"/>
            <a:ext cx="0" cy="5963842"/>
          </a:xfrm>
          <a:prstGeom prst="line">
            <a:avLst/>
          </a:prstGeom>
          <a:ln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A3EAECD2-903D-DAA7-4107-BCF7D968082F}"/>
              </a:ext>
            </a:extLst>
          </p:cNvPr>
          <p:cNvSpPr txBox="1"/>
          <p:nvPr/>
        </p:nvSpPr>
        <p:spPr>
          <a:xfrm>
            <a:off x="272703" y="6209246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12</a:t>
            </a:r>
          </a:p>
        </p:txBody>
      </p:sp>
      <p:pic>
        <p:nvPicPr>
          <p:cNvPr id="13" name="Slika 1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FBE2A3E9-B4D3-96C3-A0B7-61B3A65FB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92" y="307700"/>
            <a:ext cx="1072148" cy="244739"/>
          </a:xfrm>
          <a:prstGeom prst="rect">
            <a:avLst/>
          </a:prstGeom>
        </p:spPr>
      </p:pic>
      <p:sp>
        <p:nvSpPr>
          <p:cNvPr id="15" name="TekstniOkvir 14">
            <a:extLst>
              <a:ext uri="{FF2B5EF4-FFF2-40B4-BE49-F238E27FC236}">
                <a16:creationId xmlns:a16="http://schemas.microsoft.com/office/drawing/2014/main" id="{E15BC2FD-268D-179D-7606-063019681C31}"/>
              </a:ext>
            </a:extLst>
          </p:cNvPr>
          <p:cNvSpPr txBox="1"/>
          <p:nvPr/>
        </p:nvSpPr>
        <p:spPr>
          <a:xfrm>
            <a:off x="5878403" y="4243767"/>
            <a:ext cx="439464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796B"/>
              </a:buClr>
            </a:pPr>
            <a:endParaRPr lang="en-GB" sz="2000" noProof="1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endParaRPr lang="en-GB" sz="2000" noProof="1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pic>
        <p:nvPicPr>
          <p:cNvPr id="17" name="Slika 16">
            <a:extLst>
              <a:ext uri="{FF2B5EF4-FFF2-40B4-BE49-F238E27FC236}">
                <a16:creationId xmlns:a16="http://schemas.microsoft.com/office/drawing/2014/main" id="{B3BE3726-F3F8-1EAB-134D-3DEFA6C10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31" y="1279694"/>
            <a:ext cx="5444142" cy="3337243"/>
          </a:xfrm>
          <a:prstGeom prst="rect">
            <a:avLst/>
          </a:prstGeom>
        </p:spPr>
      </p:pic>
      <p:pic>
        <p:nvPicPr>
          <p:cNvPr id="19" name="Slika 18">
            <a:extLst>
              <a:ext uri="{FF2B5EF4-FFF2-40B4-BE49-F238E27FC236}">
                <a16:creationId xmlns:a16="http://schemas.microsoft.com/office/drawing/2014/main" id="{F10FA14E-46C5-0D41-2DF9-066062BCC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5749" y="1279694"/>
            <a:ext cx="5444142" cy="3184110"/>
          </a:xfrm>
          <a:prstGeom prst="rect">
            <a:avLst/>
          </a:prstGeom>
        </p:spPr>
      </p:pic>
      <p:sp>
        <p:nvSpPr>
          <p:cNvPr id="20" name="TekstniOkvir 19">
            <a:extLst>
              <a:ext uri="{FF2B5EF4-FFF2-40B4-BE49-F238E27FC236}">
                <a16:creationId xmlns:a16="http://schemas.microsoft.com/office/drawing/2014/main" id="{76BD3A01-8D96-308C-AAFF-7912A3C7FE53}"/>
              </a:ext>
            </a:extLst>
          </p:cNvPr>
          <p:cNvSpPr txBox="1"/>
          <p:nvPr/>
        </p:nvSpPr>
        <p:spPr>
          <a:xfrm>
            <a:off x="323054" y="4684903"/>
            <a:ext cx="4947575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WhatsApp</a:t>
            </a: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kao primarni kanal komunikacije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Catch-up </a:t>
            </a:r>
            <a:r>
              <a:rPr lang="en-GB" sz="20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sastanci</a:t>
            </a: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između faza rada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GitHub</a:t>
            </a: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za verzioniranje koda</a:t>
            </a:r>
          </a:p>
        </p:txBody>
      </p:sp>
      <p:sp>
        <p:nvSpPr>
          <p:cNvPr id="21" name="TekstniOkvir 20">
            <a:extLst>
              <a:ext uri="{FF2B5EF4-FFF2-40B4-BE49-F238E27FC236}">
                <a16:creationId xmlns:a16="http://schemas.microsoft.com/office/drawing/2014/main" id="{681C6635-25A6-FFE5-6429-A1BC1F48AFB7}"/>
              </a:ext>
            </a:extLst>
          </p:cNvPr>
          <p:cNvSpPr txBox="1"/>
          <p:nvPr/>
        </p:nvSpPr>
        <p:spPr>
          <a:xfrm>
            <a:off x="6055275" y="4684903"/>
            <a:ext cx="4947575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Podjela u </a:t>
            </a:r>
            <a:r>
              <a:rPr lang="en-GB" sz="20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dva tima</a:t>
            </a:r>
          </a:p>
          <a:p>
            <a:pPr marL="800100" lvl="1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Izgradnja aplikacije</a:t>
            </a:r>
          </a:p>
          <a:p>
            <a:pPr marL="800100" lvl="1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Dokumentacija</a:t>
            </a:r>
          </a:p>
        </p:txBody>
      </p:sp>
    </p:spTree>
    <p:extLst>
      <p:ext uri="{BB962C8B-B14F-4D97-AF65-F5344CB8AC3E}">
        <p14:creationId xmlns:p14="http://schemas.microsoft.com/office/powerpoint/2010/main" val="485772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757F9-5741-0625-638A-6889899D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>
            <a:extLst>
              <a:ext uri="{FF2B5EF4-FFF2-40B4-BE49-F238E27FC236}">
                <a16:creationId xmlns:a16="http://schemas.microsoft.com/office/drawing/2014/main" id="{29107C67-CCF7-C169-9044-751C3B85A07E}"/>
              </a:ext>
            </a:extLst>
          </p:cNvPr>
          <p:cNvSpPr txBox="1"/>
          <p:nvPr/>
        </p:nvSpPr>
        <p:spPr>
          <a:xfrm>
            <a:off x="10154068" y="6193857"/>
            <a:ext cx="176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2000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TG 09.3</a:t>
            </a:r>
            <a:endParaRPr lang="hr-HR" sz="2000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5C32542D-DB93-899D-2D6F-FD5BE6CCD631}"/>
              </a:ext>
            </a:extLst>
          </p:cNvPr>
          <p:cNvSpPr txBox="1"/>
          <p:nvPr/>
        </p:nvSpPr>
        <p:spPr>
          <a:xfrm>
            <a:off x="1114600" y="479476"/>
            <a:ext cx="2539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Demonstracija</a:t>
            </a:r>
            <a:endParaRPr lang="en-GB" sz="32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CFF38AFF-2D64-E122-2FC3-3C064FF73049}"/>
              </a:ext>
            </a:extLst>
          </p:cNvPr>
          <p:cNvSpPr txBox="1"/>
          <p:nvPr/>
        </p:nvSpPr>
        <p:spPr>
          <a:xfrm>
            <a:off x="128433" y="264033"/>
            <a:ext cx="9861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6</a:t>
            </a:r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7903EACB-499F-C6CE-586B-5929E4375610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919296" y="430070"/>
            <a:ext cx="0" cy="5963842"/>
          </a:xfrm>
          <a:prstGeom prst="line">
            <a:avLst/>
          </a:prstGeom>
          <a:ln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01D29BDE-1034-DFE2-F8DB-65B023257970}"/>
              </a:ext>
            </a:extLst>
          </p:cNvPr>
          <p:cNvSpPr txBox="1"/>
          <p:nvPr/>
        </p:nvSpPr>
        <p:spPr>
          <a:xfrm>
            <a:off x="272703" y="620924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13</a:t>
            </a:r>
          </a:p>
        </p:txBody>
      </p:sp>
      <p:pic>
        <p:nvPicPr>
          <p:cNvPr id="13" name="Slika 1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A3882428-05A8-1250-4905-B2E6CEF4A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92" y="307700"/>
            <a:ext cx="1072148" cy="244739"/>
          </a:xfrm>
          <a:prstGeom prst="rect">
            <a:avLst/>
          </a:prstGeom>
        </p:spPr>
      </p:pic>
      <p:pic>
        <p:nvPicPr>
          <p:cNvPr id="2" name="Slika 1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5B82734B-8052-1753-EC2C-557C82028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337" y="3055626"/>
            <a:ext cx="3271325" cy="7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9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6EF4F-D9AD-006B-7033-CC03BB95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niOkvir 3">
            <a:extLst>
              <a:ext uri="{FF2B5EF4-FFF2-40B4-BE49-F238E27FC236}">
                <a16:creationId xmlns:a16="http://schemas.microsoft.com/office/drawing/2014/main" id="{80CC4B31-192D-6849-1966-EC3B92F38351}"/>
              </a:ext>
            </a:extLst>
          </p:cNvPr>
          <p:cNvSpPr txBox="1"/>
          <p:nvPr/>
        </p:nvSpPr>
        <p:spPr>
          <a:xfrm>
            <a:off x="10154068" y="6193857"/>
            <a:ext cx="1765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Susjedi</a:t>
            </a:r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2000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TG 09.3</a:t>
            </a:r>
            <a:endParaRPr lang="hr-HR" sz="2000" dirty="0">
              <a:solidFill>
                <a:srgbClr val="00796B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92062465-7370-C2A3-5FC5-1177B3CD8AA2}"/>
              </a:ext>
            </a:extLst>
          </p:cNvPr>
          <p:cNvSpPr txBox="1"/>
          <p:nvPr/>
        </p:nvSpPr>
        <p:spPr>
          <a:xfrm>
            <a:off x="1114600" y="479476"/>
            <a:ext cx="27222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Naučene</a:t>
            </a:r>
            <a:r>
              <a:rPr lang="en-GB" sz="32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</a:t>
            </a:r>
            <a:r>
              <a:rPr lang="en-GB" sz="32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lekcije</a:t>
            </a:r>
            <a:endParaRPr lang="en-GB" sz="32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97C96502-63EF-B8D9-B039-AE51C544B250}"/>
              </a:ext>
            </a:extLst>
          </p:cNvPr>
          <p:cNvSpPr txBox="1"/>
          <p:nvPr/>
        </p:nvSpPr>
        <p:spPr>
          <a:xfrm>
            <a:off x="206979" y="264033"/>
            <a:ext cx="9076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r-HR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0</a:t>
            </a:r>
            <a:r>
              <a:rPr lang="en-GB" sz="6000" b="1" dirty="0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7</a:t>
            </a:r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CBCFA578-0CE4-FD29-E0F7-EC88336D6F50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919296" y="430070"/>
            <a:ext cx="0" cy="5963842"/>
          </a:xfrm>
          <a:prstGeom prst="line">
            <a:avLst/>
          </a:prstGeom>
          <a:ln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102C014A-317D-857C-0109-91C960A267BB}"/>
              </a:ext>
            </a:extLst>
          </p:cNvPr>
          <p:cNvSpPr txBox="1"/>
          <p:nvPr/>
        </p:nvSpPr>
        <p:spPr>
          <a:xfrm>
            <a:off x="272703" y="620924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14</a:t>
            </a:r>
          </a:p>
        </p:txBody>
      </p:sp>
      <p:pic>
        <p:nvPicPr>
          <p:cNvPr id="13" name="Slika 1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14522F4E-7955-EA35-8CDF-2CF181876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92" y="307700"/>
            <a:ext cx="1072148" cy="244739"/>
          </a:xfrm>
          <a:prstGeom prst="rect">
            <a:avLst/>
          </a:prstGeom>
        </p:spPr>
      </p:pic>
      <p:sp>
        <p:nvSpPr>
          <p:cNvPr id="2" name="TekstniOkvir 1">
            <a:extLst>
              <a:ext uri="{FF2B5EF4-FFF2-40B4-BE49-F238E27FC236}">
                <a16:creationId xmlns:a16="http://schemas.microsoft.com/office/drawing/2014/main" id="{2C9453CE-866A-EF6A-649B-ACC0AF54C462}"/>
              </a:ext>
            </a:extLst>
          </p:cNvPr>
          <p:cNvSpPr txBox="1"/>
          <p:nvPr/>
        </p:nvSpPr>
        <p:spPr>
          <a:xfrm>
            <a:off x="1114600" y="1279694"/>
            <a:ext cx="8139577" cy="467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796B"/>
              </a:buClr>
            </a:pPr>
            <a:r>
              <a:rPr lang="en-GB" sz="20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Što smo naučili?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Prošli smo kroz proces izrade potpune aplikacije, od backenda i frontenda do povezivanja s bazom podataka i postavljanja aplikacije na poslužitelja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Važnost korištenja alata za verzioniranja na kompleksnijim projektima</a:t>
            </a:r>
          </a:p>
          <a:p>
            <a:pPr algn="just">
              <a:lnSpc>
                <a:spcPct val="150000"/>
              </a:lnSpc>
              <a:buClr>
                <a:srgbClr val="00796B"/>
              </a:buClr>
            </a:pPr>
            <a:r>
              <a:rPr lang="en-GB" sz="20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Ključni izazovi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Organizacija unutar tima, raspodjela uloga i poslova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Zadržavanje motivacije</a:t>
            </a:r>
          </a:p>
          <a:p>
            <a:pPr algn="just">
              <a:lnSpc>
                <a:spcPct val="150000"/>
              </a:lnSpc>
              <a:buClr>
                <a:srgbClr val="00796B"/>
              </a:buClr>
            </a:pPr>
            <a:r>
              <a:rPr lang="en-GB" sz="2000" noProof="1">
                <a:solidFill>
                  <a:srgbClr val="00796B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Rješenja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Individualni pristup članovima</a:t>
            </a:r>
          </a:p>
          <a:p>
            <a:pPr marL="342900" indent="-342900" algn="just">
              <a:lnSpc>
                <a:spcPct val="150000"/>
              </a:lnSpc>
              <a:buClr>
                <a:srgbClr val="00796B"/>
              </a:buClr>
              <a:buFont typeface="Arial" panose="020B0604020202020204" pitchFamily="34" charset="0"/>
              <a:buChar char="•"/>
            </a:pPr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Raščlanjivanje zadataka na manje podzadatke</a:t>
            </a:r>
          </a:p>
        </p:txBody>
      </p:sp>
    </p:spTree>
    <p:extLst>
      <p:ext uri="{BB962C8B-B14F-4D97-AF65-F5344CB8AC3E}">
        <p14:creationId xmlns:p14="http://schemas.microsoft.com/office/powerpoint/2010/main" val="762157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4DA2-BCDC-7199-728B-D45267169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ka 1" descr="Slika na kojoj se prikazuje skeč, zgrada, crtež, arhitektura&#10;&#10;Sadržaj generiran uz AI možda nije točan.">
            <a:extLst>
              <a:ext uri="{FF2B5EF4-FFF2-40B4-BE49-F238E27FC236}">
                <a16:creationId xmlns:a16="http://schemas.microsoft.com/office/drawing/2014/main" id="{E72460F5-A4EF-FA1E-C873-F0C11DA21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914509" y="874672"/>
            <a:ext cx="6016362" cy="4645306"/>
          </a:xfrm>
          <a:prstGeom prst="rect">
            <a:avLst/>
          </a:prstGeom>
        </p:spPr>
      </p:pic>
      <p:sp>
        <p:nvSpPr>
          <p:cNvPr id="7" name="TekstniOkvir 6">
            <a:extLst>
              <a:ext uri="{FF2B5EF4-FFF2-40B4-BE49-F238E27FC236}">
                <a16:creationId xmlns:a16="http://schemas.microsoft.com/office/drawing/2014/main" id="{BFAD3050-FB46-80FF-2A40-2E1AFA8F25C5}"/>
              </a:ext>
            </a:extLst>
          </p:cNvPr>
          <p:cNvSpPr txBox="1"/>
          <p:nvPr/>
        </p:nvSpPr>
        <p:spPr>
          <a:xfrm>
            <a:off x="1007918" y="2967335"/>
            <a:ext cx="4665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5400" dirty="0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Hvala na pažnji!</a:t>
            </a: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7FC3F33A-C4C8-E4F3-9FB6-8B47F14C4C24}"/>
              </a:ext>
            </a:extLst>
          </p:cNvPr>
          <p:cNvSpPr txBox="1"/>
          <p:nvPr/>
        </p:nvSpPr>
        <p:spPr>
          <a:xfrm>
            <a:off x="1007918" y="3890665"/>
            <a:ext cx="30653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err="1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Programsko</a:t>
            </a:r>
            <a:r>
              <a:rPr lang="en-GB" sz="2000" dirty="0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 </a:t>
            </a:r>
            <a:r>
              <a:rPr lang="en-GB" sz="2000" dirty="0" err="1">
                <a:solidFill>
                  <a:srgbClr val="102A43"/>
                </a:solidFill>
                <a:latin typeface="Rajdhani SemiBold" panose="02000000000000000000" pitchFamily="2" charset="0"/>
                <a:cs typeface="Rajdhani SemiBold" panose="02000000000000000000" pitchFamily="2" charset="0"/>
              </a:rPr>
              <a:t>inženjerstvo</a:t>
            </a:r>
            <a:endParaRPr lang="hr-HR" sz="2000" dirty="0">
              <a:solidFill>
                <a:srgbClr val="102A43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  <a:p>
            <a:r>
              <a:rPr lang="en-GB" sz="2000" dirty="0">
                <a:solidFill>
                  <a:srgbClr val="00796B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TG 09.3</a:t>
            </a:r>
            <a:r>
              <a:rPr lang="hr-HR" sz="2000" dirty="0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, 23.</a:t>
            </a:r>
            <a:r>
              <a:rPr lang="en-GB" sz="2000" dirty="0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1</a:t>
            </a:r>
            <a:r>
              <a:rPr lang="hr-HR" sz="2000" dirty="0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.202</a:t>
            </a:r>
            <a:r>
              <a:rPr lang="en-GB" sz="2000" dirty="0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6</a:t>
            </a:r>
            <a:r>
              <a:rPr lang="hr-HR" sz="2000" dirty="0">
                <a:solidFill>
                  <a:srgbClr val="102A43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.</a:t>
            </a:r>
            <a:r>
              <a:rPr lang="hr-HR" sz="2000" dirty="0">
                <a:solidFill>
                  <a:srgbClr val="B56B3F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 </a:t>
            </a:r>
          </a:p>
          <a:p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Petar Ćurić</a:t>
            </a:r>
          </a:p>
          <a:p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Andro </a:t>
            </a:r>
            <a:r>
              <a:rPr lang="hr-HR" sz="2000" dirty="0" err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Gabaj</a:t>
            </a:r>
            <a:endParaRPr lang="hr-HR" sz="20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  <a:p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Matej Glavaš</a:t>
            </a:r>
            <a:endParaRPr lang="hr-HR" sz="2400" dirty="0">
              <a:solidFill>
                <a:srgbClr val="102A43"/>
              </a:solidFill>
              <a:latin typeface="Rajdhani Medium" panose="02000000000000000000" pitchFamily="2" charset="0"/>
              <a:cs typeface="Rajdhani Medium" panose="02000000000000000000" pitchFamily="2" charset="0"/>
            </a:endParaRPr>
          </a:p>
        </p:txBody>
      </p:sp>
      <p:pic>
        <p:nvPicPr>
          <p:cNvPr id="3" name="Slika 2" descr="Slika na kojoj se prikazuje Font, logotip, grafika, tekst&#10;&#10;Sadržaj generiran uz AI možda nije točan.">
            <a:extLst>
              <a:ext uri="{FF2B5EF4-FFF2-40B4-BE49-F238E27FC236}">
                <a16:creationId xmlns:a16="http://schemas.microsoft.com/office/drawing/2014/main" id="{2DCC43C1-543F-6551-9FDA-838669A20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41" y="1195370"/>
            <a:ext cx="3271325" cy="746747"/>
          </a:xfrm>
          <a:prstGeom prst="rect">
            <a:avLst/>
          </a:prstGeom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55CBCD60-96A6-4E2D-3642-EC7A3DCB7B12}"/>
              </a:ext>
            </a:extLst>
          </p:cNvPr>
          <p:cNvSpPr txBox="1"/>
          <p:nvPr/>
        </p:nvSpPr>
        <p:spPr>
          <a:xfrm>
            <a:off x="2643184" y="3890665"/>
            <a:ext cx="306531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000" dirty="0">
              <a:solidFill>
                <a:srgbClr val="102A43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  <a:p>
            <a:endParaRPr lang="en-GB" sz="2000" dirty="0">
              <a:solidFill>
                <a:srgbClr val="102A43"/>
              </a:solidFill>
              <a:latin typeface="Rajdhani SemiBold" panose="02000000000000000000" pitchFamily="2" charset="0"/>
              <a:cs typeface="Rajdhani SemiBold" panose="02000000000000000000" pitchFamily="2" charset="0"/>
            </a:endParaRPr>
          </a:p>
          <a:p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Ante Ivančić</a:t>
            </a:r>
            <a:endParaRPr lang="en-GB" sz="20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  <a:p>
            <a:r>
              <a:rPr lang="hr-HR" sz="2000" dirty="0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Filip Matijević</a:t>
            </a:r>
            <a:endParaRPr lang="en-GB" sz="2000" dirty="0">
              <a:solidFill>
                <a:srgbClr val="102A43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  <a:p>
            <a:r>
              <a:rPr lang="en-GB" sz="2000" noProof="1">
                <a:solidFill>
                  <a:srgbClr val="102A43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Jakov Schramadei</a:t>
            </a:r>
          </a:p>
          <a:p>
            <a:endParaRPr lang="hr-HR" sz="2400" dirty="0">
              <a:solidFill>
                <a:srgbClr val="102A43"/>
              </a:solidFill>
              <a:latin typeface="Rajdhani Medium" panose="02000000000000000000" pitchFamily="2" charset="0"/>
              <a:cs typeface="Rajdhani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5025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644</Words>
  <Application>Microsoft Office PowerPoint</Application>
  <PresentationFormat>Široki zaslon</PresentationFormat>
  <Paragraphs>176</Paragraphs>
  <Slides>15</Slides>
  <Notes>14</Notes>
  <HiddenSlides>0</HiddenSlides>
  <MMClips>0</MMClips>
  <ScaleCrop>false</ScaleCrop>
  <HeadingPairs>
    <vt:vector size="6" baseType="variant">
      <vt:variant>
        <vt:lpstr>Korišteni fontovi</vt:lpstr>
      </vt:variant>
      <vt:variant>
        <vt:i4>7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Montserrat ExtraBold</vt:lpstr>
      <vt:lpstr>Rajdhani</vt:lpstr>
      <vt:lpstr>Rajdhani Medium</vt:lpstr>
      <vt:lpstr>Rajdhani SemiBold</vt:lpstr>
      <vt:lpstr>Tema sustava Office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Ante Ivančić2</dc:creator>
  <cp:lastModifiedBy>Ante Ivančić2</cp:lastModifiedBy>
  <cp:revision>2</cp:revision>
  <dcterms:created xsi:type="dcterms:W3CDTF">2026-01-23T06:25:43Z</dcterms:created>
  <dcterms:modified xsi:type="dcterms:W3CDTF">2026-01-23T21:18:49Z</dcterms:modified>
</cp:coreProperties>
</file>